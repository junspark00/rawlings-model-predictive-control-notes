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3.1 Introduction — 개요</a:t>
            </a:r>
          </a:p>
          <a:p/>
          <a:p>
            <a:r>
              <a:t>**교재 인쇄 pp.193–204**</a:t>
            </a:r>
          </a:p>
          <a:p/>
          <a:p>
            <a:r>
              <a:t>불확실성이 있으면 하나의 예측 궤적만으로 실제 미래를 나타낼 수 없습니다. 명목 문제를 반복해서 푸는 피드백과, 예측 구간 안에서 미래 관측에 따라 행동을 바꾸도록 설계하는 피드백 정책을 구분합니다.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3.1.1 Types of Uncertainty — 불확실성의 종류</a:t>
            </a:r>
          </a:p>
          <a:p/>
          <a:p>
            <a:r>
              <a:t>**교재 인쇄 pp.193–195**</a:t>
            </a:r>
          </a:p>
          <a:p/>
          <a:p>
            <a:r>
              <a:t>외란, 파라미터 오차, 모델 구조 오차, 측정 오차는 서로 다른 경로로 제어에 영향을 줍니다. 가산 외란으로 단순화할 때에는 그 범위가 모델 오차를 실제로 포함하는지 확인해야 합니다. 유계 외란이라는 가정과 가우스 분포 가정은 같지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3.1.2 Feedback Versus Open-Loop Control — 피드백과 개방루프 제어</a:t>
            </a:r>
          </a:p>
          <a:p/>
          <a:p>
            <a:r>
              <a:t>**교재 인쇄 pp.195–200**</a:t>
            </a:r>
          </a:p>
          <a:p/>
          <a:p>
            <a:r>
              <a:t>개방루프 입력 열은 앞으로 발생할 외란을 관측해도 구간 내 입력을 바꾸지 않습니다. 정책은 이미 관측한 상태나 외란 이력에 따라 다음 입력을 바꿀 수 있습니다. 같은 과거를 가진 시나리오는 같은 입력을 써야 하며 아직 발생하지 않은 외란을 보고 입력을 선택하면 안 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3.1.2 Feedback Versus Open-Loop Control — 피드백과 개방루프 제어</a:t>
            </a:r>
          </a:p>
          <a:p/>
          <a:p>
            <a:r>
              <a:t>**교재 인쇄 pp.195–200**</a:t>
            </a:r>
          </a:p>
          <a:p/>
          <a:p>
            <a:r>
              <a:t>개방루프 입력 열은 앞으로 발생할 외란을 관측해도 구간 내 입력을 바꾸지 않습니다. 정책은 이미 관측한 상태나 외란 이력에 따라 다음 입력을 바꿀 수 있습니다. 같은 과거를 가진 시나리오는 같은 입력을 써야 하며 아직 발생하지 않은 외란을 보고 입력을 선택하면 안 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Figure 3.1 · w=0, +1, −1 · 8개 꼭짓점 경로 대조</a:t>
            </a:r>
          </a:p>
          <a:p>
            <a:r>
              <a:t>종단 튜브 폭은 고정 입력 6, 상태 피드백 3.4입니다. 명목 이득의 비교이며 최소–최대 최적 정책의 재현은 아닙니다.</a:t>
            </a:r>
          </a:p>
          <a:p/>
          <a:p>
            <a:r>
              <a:t>### 3.1.2 Feedback Versus Open-Loop Control — 피드백과 개방루프 제어</a:t>
            </a:r>
          </a:p>
          <a:p/>
          <a:p>
            <a:r>
              <a:t>**교재 인쇄 pp.195–200**</a:t>
            </a:r>
          </a:p>
          <a:p/>
          <a:p>
            <a:r>
              <a:t>개방루프 입력 열은 앞으로 발생할 외란을 관측해도 구간 내 입력을 바꾸지 않습니다. 정책은 이미 관측한 상태나 외란 이력에 따라 다음 입력을 바꿀 수 있습니다. 같은 과거를 가진 시나리오는 같은 입력을 써야 하며 아직 발생하지 않은 외란을 보고 입력을 선택하면 안 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3.1.3 Robust and Stochastic MPC — 강인 MPC와 확률적 MPC</a:t>
            </a:r>
          </a:p>
          <a:p/>
          <a:p>
            <a:r>
              <a:t>**교재 인쇄 pp.200–202**</a:t>
            </a:r>
          </a:p>
          <a:p/>
          <a:p>
            <a:r>
              <a:t>강인 MPC는 명시한 허용 외란의 모든 실현에 대해 제약을 다룹니다. 확률적 MPC는 외란 분포를 사용하여 기대 비용이나 확률 제약을 다룹니다. 확률 제약의 대상이 한 시점인지 구간 전체인지 명시해야 합니다. 허용 범위 또는 분포가 실제와 다르면 해당 보장을 그대로 적용할 수 없습니다.</a:t>
            </a:r>
          </a:p>
          <a:p/>
          <a:p>
            <a:r>
              <a:t>$$</a:t>
            </a:r>
          </a:p>
          <a:p>
            <a:r>
              <a:t>\forall w\in W^N:\ x_j\in X,\qquad \mathbb P(x_j\in X)\ge1-\epsilon</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3.1.4 Tubes — 튜브</a:t>
            </a:r>
          </a:p>
          <a:p/>
          <a:p>
            <a:r>
              <a:t>**교재 인쇄 pp.202–203**</a:t>
            </a:r>
          </a:p>
          <a:p/>
          <a:p>
            <a:r>
              <a:t>같은 초기상태에서 여러 외란을 적용하면 궤적 묶음이 생깁니다. 튜브의 각 단면은 해당 시점에 가능한 상태들을 포함합니다. 선형 가산 외란에서는 명목 중심과 오차 집합의 합으로 외접 튜브를 구성할 수 있습니다.</a:t>
            </a:r>
          </a:p>
          <a:p/>
          <a:p>
            <a:r>
              <a:t>$$</a:t>
            </a:r>
          </a:p>
          <a:p>
            <a:r>
              <a:t>X_j=\{z_j\}\oplus S_j,\qquad e_j=x_j-z_j</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a=1.1 · K=−0.6 · 외란 범위 ±0.1 · 초기 오차 0</a:t>
            </a:r>
          </a:p>
          <a:p>
            <a:r>
              <a:t>가산 외란의 구간 경계는 정확하게 전파됩니다. 피드백이 없는 경우와 있는 경우의 반경을 비교하고, 짧은 구간의 모든 외란 꼭짓점으로 대조합니다.</a:t>
            </a:r>
          </a:p>
          <a:p/>
          <a:p>
            <a:r>
              <a:t>### 3.1.4 Tubes — 튜브</a:t>
            </a:r>
          </a:p>
          <a:p/>
          <a:p>
            <a:r>
              <a:t>**교재 인쇄 pp.202–203**</a:t>
            </a:r>
          </a:p>
          <a:p/>
          <a:p>
            <a:r>
              <a:t>같은 초기상태에서 여러 외란을 적용하면 궤적 묶음이 생깁니다. 튜브의 각 단면은 해당 시점에 가능한 상태들을 포함합니다. 선형 가산 외란에서는 명목 중심과 오차 집합의 합으로 외접 튜브를 구성할 수 있습니다.</a:t>
            </a:r>
          </a:p>
          <a:p/>
          <a:p>
            <a:r>
              <a:t>$$</a:t>
            </a:r>
          </a:p>
          <a:p>
            <a:r>
              <a:t>X_j=\{z_j\}\oplus S_j,\qquad e_j=x_j-z_j</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3.1.5 Difference Inclusion Description of Uncertain Systems — 불확실한 시스템의 차분 포함 표현</a:t>
            </a:r>
          </a:p>
          <a:p/>
          <a:p>
            <a:r>
              <a:t>**교재 인쇄 pp.203–204**</a:t>
            </a:r>
          </a:p>
          <a:p/>
          <a:p>
            <a:r>
              <a:t>외란 변수를 명시하는 대신 가능한 다음 상태를 집합값 함수로 표현할 수 있습니다. 이 표현에서 강인 제약은 집합 전체가 허용 영역 안에 포함되어야 한다는 조건이 됩니다.</a:t>
            </a:r>
          </a:p>
          <a:p/>
          <a:p>
            <a:r>
              <a:t>$$</a:t>
            </a:r>
          </a:p>
          <a:p>
            <a:r>
              <a:t>F(x,u)=\{f(x,u,w):w\in W\},\qquad x^+\in F(x,u)</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3.2 Nominal (Inherent) Robustness — 명목 제어의 내재적 강인성</a:t>
            </a:r>
          </a:p>
          <a:p/>
          <a:p>
            <a:r>
              <a:t>**교재 인쇄 pp.204–214**</a:t>
            </a:r>
          </a:p>
          <a:p/>
          <a:p>
            <a:r>
              <a:t>명목 MPC가 안정적이라는 사실만으로 작은 외란에도 같은 결과를 얻는 것은 아닙니다. 값 함수와 폐루프의 연속성, 제약 경계로부터의 여유, 외란 크기 등의 가정을 함께 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3.2.1 Introduction — 내재적 강인성의 출발점</a:t>
            </a:r>
          </a:p>
          <a:p/>
          <a:p>
            <a:r>
              <a:t>**교재 인쇄 pp.204–206**</a:t>
            </a:r>
          </a:p>
          <a:p/>
          <a:p>
            <a:r>
              <a:t>교재는 불연속 폐루프에서 명목 점근 안정성이 임의로 작은 섭동에도 유지되지 않는 사례를 설명합니다. 이는 특정 시뮬레이션이 원점으로 수렴했다는 사실만으로 강인성을 주장할 수 없음을 보여 줍니다.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3.2.2 Difference Inclusion Description of Discontinuous Systems — 불연속 시스템의 차분 포함 표현</a:t>
            </a:r>
          </a:p>
          <a:p/>
          <a:p>
            <a:r>
              <a:t>**교재 인쇄 pp.206–207**</a:t>
            </a:r>
          </a:p>
          <a:p/>
          <a:p>
            <a:r>
              <a:t>불연속점 근방에서 나타나는 함수값의 극한들을 포함하여 정규화하면 작은 상태 오차로 선택될 수 있는 변화도 분석할 수 있습니다. 이 절의 정규화는 집합의 폐포를 사용하며 임의로 볼록껍질을 추가하는 정의와 구분합니다.</a:t>
            </a:r>
          </a:p>
          <a:p/>
          <a:p>
            <a:r>
              <a:t>$$</a:t>
            </a:r>
          </a:p>
          <a:p>
            <a:r>
              <a:t>F(x)=\bigcap_{\delta&gt;0}\overline{\{f(y):\|y-x\|\le\delta\}}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3.2.3 When Is Nominal MPC Robust? — 명목 MPC는 언제 강인한가?</a:t>
            </a:r>
          </a:p>
          <a:p/>
          <a:p>
            <a:r>
              <a:t>**교재 인쇄 pp.207–209**</a:t>
            </a:r>
          </a:p>
          <a:p/>
          <a:p>
            <a:r>
              <a:t>외란이 지속되면 정확한 원점 수렴보다 초기 편차의 감소와 외란에 따른 잔여 오차를 구분하는 것이 자연스럽습니다. 교재의 강인성 정의는 원하는 오차 수준과 초기상태의 콤팩트 집합에 맞는 충분히 작은 섭동 크기를 요구합니다.</a:t>
            </a:r>
          </a:p>
          <a:p/>
          <a:p>
            <a:r>
              <a:t>$$</a:t>
            </a:r>
          </a:p>
          <a:p>
            <a:r>
              <a:t>\|x_k\|\le b(\|x_0\|,k)+\epsilon,\qquad b\in\mathcal{KL}</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3.2.3 When Is Nominal MPC Robust? — 명목 MPC는 언제 강인한가?</a:t>
            </a:r>
          </a:p>
          <a:p/>
          <a:p>
            <a:r>
              <a:t>**교재 인쇄 pp.207–209**</a:t>
            </a:r>
          </a:p>
          <a:p/>
          <a:p>
            <a:r>
              <a:t>외란이 지속되면 정확한 원점 수렴보다 초기 편차의 감소와 외란에 따른 잔여 오차를 구분하는 것이 자연스럽습니다. 교재의 강인성 정의는 원하는 오차 수준과 초기상태의 콤팩트 집합에 맞는 충분히 작은 섭동 크기를 요구합니다.</a:t>
            </a:r>
          </a:p>
          <a:p/>
          <a:p>
            <a:r>
              <a:t>$$</a:t>
            </a:r>
          </a:p>
          <a:p>
            <a:r>
              <a:t>\|x_k\|\le b(\|x_0\|,k)+\epsilon,\qquad b\in\mathcal{KL}</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ρ=0.6 · e₀=1 · 외란 상한 0, 0.04, 0.1</a:t>
            </a:r>
          </a:p>
          <a:p>
            <a:r>
              <a:t>항상 양의 최대 외란을 적용하면 상한이 달성됩니다. 왼쪽의 잔여 오차와 오른쪽의 집합까지 거리를 구분하세요.</a:t>
            </a:r>
          </a:p>
          <a:p/>
          <a:p>
            <a:r>
              <a:t>### 3.2.3 When Is Nominal MPC Robust? — 명목 MPC는 언제 강인한가?</a:t>
            </a:r>
          </a:p>
          <a:p/>
          <a:p>
            <a:r>
              <a:t>**교재 인쇄 pp.207–209**</a:t>
            </a:r>
          </a:p>
          <a:p/>
          <a:p>
            <a:r>
              <a:t>외란이 지속되면 정확한 원점 수렴보다 초기 편차의 감소와 외란에 따른 잔여 오차를 구분하는 것이 자연스럽습니다. 교재의 강인성 정의는 원하는 오차 수준과 초기상태의 콤팩트 집합에 맞는 충분히 작은 섭동 크기를 요구합니다.</a:t>
            </a:r>
          </a:p>
          <a:p/>
          <a:p>
            <a:r>
              <a:t>$$</a:t>
            </a:r>
          </a:p>
          <a:p>
            <a:r>
              <a:t>\|x_k\|\le b(\|x_0\|,k)+\epsilon,\qquad b\in\mathcal{KL}</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3.2.4 Robustness of Nominal MPC — 명목 MPC의 강인성</a:t>
            </a:r>
          </a:p>
          <a:p/>
          <a:p>
            <a:r>
              <a:t>**교재 인쇄 pp.209–214**</a:t>
            </a:r>
          </a:p>
          <a:p/>
          <a:p>
            <a:r>
              <a:t>값 함수 감소가 충분히 크고 섭동에 따른 변화가 작으면 원점 주변의 작은 값 함수 부분집합으로 진입하고 머무르는 결과를 얻습니다. 이론은 절에서 명시한 가정을 필요로 합니다. 아래 보충 실습은 안정성 정리의 재현이 아니라, 명목 제약 만족이 외란 후 제약 만족을 뜻하지 않는 한 단계 예입니다.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a=1.2 · x(0)=0.9 · |u|≤0.3 · 입력 비용 가중치 100</a:t>
            </a:r>
          </a:p>
          <a:p>
            <a:r>
              <a:t>명목 예측은 상태 상한을 만족하지만 외란 적용 후에는 초과합니다. 한 단계 여유를 둔 결과와 비교하며, 이 비교만으로 다단계 안정성을 주장하지 않습니다.</a:t>
            </a:r>
          </a:p>
          <a:p/>
          <a:p>
            <a:r>
              <a:t>### 3.2.4 Robustness of Nominal MPC — 명목 MPC의 강인성</a:t>
            </a:r>
          </a:p>
          <a:p/>
          <a:p>
            <a:r>
              <a:t>**교재 인쇄 pp.209–214**</a:t>
            </a:r>
          </a:p>
          <a:p/>
          <a:p>
            <a:r>
              <a:t>값 함수 감소가 충분히 크고 섭동에 따른 변화가 작으면 원점 주변의 작은 값 함수 부분집합으로 진입하고 머무르는 결과를 얻습니다. 이론은 절에서 명시한 가정을 필요로 합니다. 아래 보충 실습은 안정성 정리의 재현이 아니라, 명목 제약 만족이 외란 후 제약 만족을 뜻하지 않는 한 단계 예입니다.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3.3 Min-Max Optimal Control: Dynamic Programming Solution — 최소–최대 최적 제어와 동적 계획법</a:t>
            </a:r>
          </a:p>
          <a:p/>
          <a:p>
            <a:r>
              <a:t>**교재 인쇄 pp.214–220**</a:t>
            </a:r>
          </a:p>
          <a:p/>
          <a:p>
            <a:r>
              <a:t>최소–최대 문제는 제어자가 선택한 정책에 대해 가장 불리한 허용 외란을 평가합니다. 동적 계획법은 다음 상태에서 다시 제어를 선택하는 구조를 재귀에 포함합니다. 작은 이산 문제에서는 근사 격자 없이 정확히 계산할 수 있지만 일반적인 연속 고차원 문제에서는 계산량이 크게 증가합니다.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3.3.1 Introduction — 최소–최대 문제의 구성</a:t>
            </a:r>
          </a:p>
          <a:p/>
          <a:p>
            <a:r>
              <a:t>**교재 인쇄 pp.214–216**</a:t>
            </a:r>
          </a:p>
          <a:p/>
          <a:p>
            <a:r>
              <a:t>허용 정책은 모든 외란 실현에서 상태·입력·종단 제약을 만족해야 합니다. 제어 입력을 선택한 뒤 외란이 실현되는 정보 순서를 유지합니다. 외란을 먼저 알고 입력을 선택하는 계산은 더 쉬운 다른 문제입니다.</a:t>
            </a:r>
          </a:p>
          <a:p/>
          <a:p>
            <a:r>
              <a:t>$$</a:t>
            </a:r>
          </a:p>
          <a:p>
            <a:r>
              <a:t>V_N(x)=\min_{\pi\in\Pi_N(x)}\max_{w\in W^N}J_N(x,\pi,w)</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3.3.1 Introduction — 최소–최대 문제의 구성</a:t>
            </a:r>
          </a:p>
          <a:p/>
          <a:p>
            <a:r>
              <a:t>**교재 인쇄 pp.214–216**</a:t>
            </a:r>
          </a:p>
          <a:p/>
          <a:p>
            <a:r>
              <a:t>허용 정책은 모든 외란 실현에서 상태·입력·종단 제약을 만족해야 합니다. 제어 입력을 선택한 뒤 외란이 실현되는 정보 순서를 유지합니다. 외란을 먼저 알고 입력을 선택하는 계산은 더 쉬운 다른 문제입니다.</a:t>
            </a:r>
          </a:p>
          <a:p/>
          <a:p>
            <a:r>
              <a:t>$$</a:t>
            </a:r>
          </a:p>
          <a:p>
            <a:r>
              <a:t>V_N(x)=\min_{\pi\in\Pi_N(x)}\max_{w\in W^N}J_N(x,\pi,w)</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x⁺=u+w · 입력·외란 각각 {−1,1} · 비용 (x⁺)²</a:t>
            </a:r>
          </a:p>
          <a:p>
            <a:r>
              <a:t>인과적 제어의 최악 비용은 4입니다. 외란을 미리 알면 u=−w로 0을 만들 수 있지만 실제 제어와 같은 비교가 아닙니다.</a:t>
            </a:r>
          </a:p>
          <a:p/>
          <a:p>
            <a:r>
              <a:t>### 3.3.1 Introduction — 최소–최대 문제의 구성</a:t>
            </a:r>
          </a:p>
          <a:p/>
          <a:p>
            <a:r>
              <a:t>**교재 인쇄 pp.214–216**</a:t>
            </a:r>
          </a:p>
          <a:p/>
          <a:p>
            <a:r>
              <a:t>허용 정책은 모든 외란 실현에서 상태·입력·종단 제약을 만족해야 합니다. 제어 입력을 선택한 뒤 외란이 실현되는 정보 순서를 유지합니다. 외란을 먼저 알고 입력을 선택하는 계산은 더 쉬운 다른 문제입니다.</a:t>
            </a:r>
          </a:p>
          <a:p/>
          <a:p>
            <a:r>
              <a:t>$$</a:t>
            </a:r>
          </a:p>
          <a:p>
            <a:r>
              <a:t>V_N(x)=\min_{\pi\in\Pi_N(x)}\max_{w\in W^N}J_N(x,\pi,w)</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3.3.2 Properties of the Dynamic Programming Solution — 동적 계획법 해의 성질</a:t>
            </a:r>
          </a:p>
          <a:p/>
          <a:p>
            <a:r>
              <a:t>**교재 인쇄 pp.216–220**</a:t>
            </a:r>
          </a:p>
          <a:p/>
          <a:p>
            <a:r>
              <a:t>벨만 재귀는 한 단계 비용과 남은 최적 비용을 결합합니다. 아래에서는 정수 상태와 유한 입력·외란 집합을 가진 보충 문제를 정확히 풀어, 개방루프 입력 열의 최악 비용과 비교합니다. 연속 상태 공간을 격자로 근사한 결과가 아닙니다. 종단 비용은 상태 제곱이고 종단 제약은 전체 허용 상태 집합이며, 이 유한 구간 비교의 안정성을 별도로 주장하지 않습니다.</a:t>
            </a:r>
          </a:p>
          <a:p/>
          <a:p>
            <a:r>
              <a:t>$$</a:t>
            </a:r>
          </a:p>
          <a:p>
            <a:r>
              <a:t>V_j(x)=\min_{u}\max_{w}\left[x^2+0.2u^2+V_{j-1}(x+u+w)\right]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정수 상태 −4,…,4 · 예측 길이 N=3 · 종단 비용 x²</a:t>
            </a:r>
          </a:p>
          <a:p>
            <a:r>
              <a:t>동적 계획법은 같은 과거를 가진 분기에서 같은 입력을 사용합니다. 모든 외란 경로를 펼쳐 최악 비용을 대조하고, 정책의 최악 비용이 개방루프보다 크지 않은지 확인합니다.</a:t>
            </a:r>
          </a:p>
          <a:p/>
          <a:p>
            <a:r>
              <a:t>### 3.3.2 Properties of the Dynamic Programming Solution — 동적 계획법 해의 성질</a:t>
            </a:r>
          </a:p>
          <a:p/>
          <a:p>
            <a:r>
              <a:t>**교재 인쇄 pp.216–220**</a:t>
            </a:r>
          </a:p>
          <a:p/>
          <a:p>
            <a:r>
              <a:t>벨만 재귀는 한 단계 비용과 남은 최적 비용을 결합합니다. 아래에서는 정수 상태와 유한 입력·외란 집합을 가진 보충 문제를 정확히 풀어, 개방루프 입력 열의 최악 비용과 비교합니다. 연속 상태 공간을 격자로 근사한 결과가 아닙니다. 종단 비용은 상태 제곱이고 종단 제약은 전체 허용 상태 집합이며, 이 유한 구간 비교의 안정성을 별도로 주장하지 않습니다.</a:t>
            </a:r>
          </a:p>
          <a:p/>
          <a:p>
            <a:r>
              <a:t>$$</a:t>
            </a:r>
          </a:p>
          <a:p>
            <a:r>
              <a:t>V_j(x)=\min_{u}\max_{w}\left[x^2+0.2u^2+V_{j-1}(x+u+w)\right]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3.4 Robust Min-Max MPC — 강인 최소–최대 MPC</a:t>
            </a:r>
          </a:p>
          <a:p/>
          <a:p>
            <a:r>
              <a:t>**교재 인쇄 pp.220–223**</a:t>
            </a:r>
          </a:p>
          <a:p/>
          <a:p>
            <a:r>
              <a:t>일반적인 함수 정책 전체를 최적화하기는 어렵기 때문에 고정 피드백 이득과 조정 가능한 항 등으로 정책을 매개변수화합니다. 선택한 정책 집합 안에서의 최적해는 모든 인과적 정책 중의 최적해와 다를 수 있습니다. 지속 외란 아래 안정화 논리는 불변 목표 집합과 적절한 비용·종단 조건을 필요로 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3.5 Tube-Based Robust MPC — 튜브 기반 강인 MPC</a:t>
            </a:r>
          </a:p>
          <a:p/>
          <a:p>
            <a:r>
              <a:t>**교재 인쇄 pp.223–236**</a:t>
            </a:r>
          </a:p>
          <a:p/>
          <a:p>
            <a:r>
              <a:t>튜브 MPC는 명목 계획과 오차를 억제하는 보조 피드백을 결합합니다. 불변 오차 집합을 먼저 계산하여 명목 문제의 제약을 축소하면 온라인에서는 보통의 명목 최적화 구조를 활용할 수 있습니다. 이는 최소–최대 정책 문제 전체의 최적해를 그대로 계산하는 방법은 아닙니다.</a:t>
            </a:r>
          </a:p>
          <a:p/>
          <a:p>
            <a:r>
              <a:t>$$</a:t>
            </a:r>
          </a:p>
          <a:p>
            <a:r>
              <a:t>z^+=Az+Bv,\qquad u=v+K(x-z),\qquad e^+=(A+BK)e+w</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3.5.1 Introduction — 튜브 MPC의 구성</a:t>
            </a:r>
          </a:p>
          <a:p/>
          <a:p>
            <a:r>
              <a:t>**교재 인쇄 pp.223–224**</a:t>
            </a:r>
          </a:p>
          <a:p/>
          <a:p>
            <a:r>
              <a:t>명목 중심은 외란 없는 모델로 이동하고 실제 상태와의 차이는 보조 피드백으로 처리합니다. 실제 상태가 변했다고 매번 명목 중심을 무조건 실제 상태로 재설정하면 기존 실행 가능성 논리를 잃을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3.5.2 Outer-Bounding Tube for a Linear System with Additive Disturbance — 선형 가산 외란 시스템의 외접 튜브</a:t>
            </a:r>
          </a:p>
          <a:p/>
          <a:p>
            <a:r>
              <a:t>**교재 인쇄 pp.224–228**</a:t>
            </a:r>
          </a:p>
          <a:p/>
          <a:p>
            <a:r>
              <a:t>오차 집합 S가 (A+BK)S와 W의 민코프스키 합을 포함하면 강인 양의 불변 집합입니다. 실제 상태와 입력이 원래 한계를 지키도록 명목 상태와 입력에 여유를 둡니다. 스칼라 대칭 구간에서는 불변 반경과 제약 축소를 해석적으로 계산할 수 있습니다.</a:t>
            </a:r>
          </a:p>
          <a:p/>
          <a:p>
            <a:r>
              <a:t>$$</a:t>
            </a:r>
          </a:p>
          <a:p>
            <a:r>
              <a:t>S=[-s,s],\quad s=\frac{w_{\max}}{1-|a+bK|},\quad |z|\le x_{\max}-s,\quad |v|\le u_{\max}-|K|s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3.5.2 Outer-Bounding Tube for a Linear System with Additive Disturbance — 선형 가산 외란 시스템의 외접 튜브</a:t>
            </a:r>
          </a:p>
          <a:p/>
          <a:p>
            <a:r>
              <a:t>**교재 인쇄 pp.224–228**</a:t>
            </a:r>
          </a:p>
          <a:p/>
          <a:p>
            <a:r>
              <a:t>오차 집합 S가 (A+BK)S와 W의 민코프스키 합을 포함하면 강인 양의 불변 집합입니다. 실제 상태와 입력이 원래 한계를 지키도록 명목 상태와 입력에 여유를 둡니다. 스칼라 대칭 구간에서는 불변 반경과 제약 축소를 해석적으로 계산할 수 있습니다.</a:t>
            </a:r>
          </a:p>
          <a:p/>
          <a:p>
            <a:r>
              <a:t>$$</a:t>
            </a:r>
          </a:p>
          <a:p>
            <a:r>
              <a:t>S=[-s,s],\quad s=\frac{w_{\max}}{1-|a+bK|},\quad |z|\le x_{\max}-s,\quad |v|\le u_{\max}-|K|s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a=1.1 · 외란 ±0.1 · 안정한 보조 이득 K를 변화</a:t>
            </a:r>
          </a:p>
          <a:p>
            <a:r>
              <a:t>이득을 키워 오차를 억제해도 명목 제어에 남는 입력이 줄 수 있습니다. 반경 하나만으로 이득의 성능을 평가하지 않습니다.</a:t>
            </a:r>
          </a:p>
          <a:p/>
          <a:p>
            <a:r>
              <a:t>### 3.5.2 Outer-Bounding Tube for a Linear System with Additive Disturbance — 선형 가산 외란 시스템의 외접 튜브</a:t>
            </a:r>
          </a:p>
          <a:p/>
          <a:p>
            <a:r>
              <a:t>**교재 인쇄 pp.224–228**</a:t>
            </a:r>
          </a:p>
          <a:p/>
          <a:p>
            <a:r>
              <a:t>오차 집합 S가 (A+BK)S와 W의 민코프스키 합을 포함하면 강인 양의 불변 집합입니다. 실제 상태와 입력이 원래 한계를 지키도록 명목 상태와 입력에 여유를 둡니다. 스칼라 대칭 구간에서는 불변 반경과 제약 축소를 해석적으로 계산할 수 있습니다.</a:t>
            </a:r>
          </a:p>
          <a:p/>
          <a:p>
            <a:r>
              <a:t>$$</a:t>
            </a:r>
          </a:p>
          <a:p>
            <a:r>
              <a:t>S=[-s,s],\quad s=\frac{w_{\max}}{1-|a+bK|},\quad |z|\le x_{\max}-s,\quad |v|\le u_{\max}-|K|s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3.5.3 Tube-Based MPC of Linear Systems with Additive Disturbances — 선형 가산 외란 시스템의 튜브 MPC</a:t>
            </a:r>
          </a:p>
          <a:p/>
          <a:p>
            <a:r>
              <a:t>**교재 인쇄 pp.228–234**</a:t>
            </a:r>
          </a:p>
          <a:p/>
          <a:p>
            <a:r>
              <a:t>명목 QP에는 축소된 상태·입력 제약과 안정화 종단 조건을 사용합니다. 명목 중심을 다음 상태로 이동하면 기존 최적 입력 열을 이동한 후보가 다음 문제의 실행 가능성을 보장합니다. 아래 실습에서는 보조 피드백 K=-0.6과 명목 종단 LQR 이득 Kf를 구분합니다. 실제 상태는 원점 자체가 아니라 원점 주변 오차 집합에 접근합니다.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3.5.3 Tube-Based MPC of Linear Systems with Additive Disturbances — 선형 가산 외란 시스템의 튜브 MPC</a:t>
            </a:r>
          </a:p>
          <a:p/>
          <a:p>
            <a:r>
              <a:t>**교재 인쇄 pp.228–234**</a:t>
            </a:r>
          </a:p>
          <a:p/>
          <a:p>
            <a:r>
              <a:t>명목 QP에는 축소된 상태·입력 제약과 안정화 종단 조건을 사용합니다. 명목 중심을 다음 상태로 이동하면 기존 최적 입력 열을 이동한 후보가 다음 문제의 실행 가능성을 보장합니다. 아래 실습에서는 보조 피드백 K=-0.6과 명목 종단 LQR 이득 Kf를 구분합니다. 실제 상태는 원점 자체가 아니라 원점 주변 오차 집합에 접근합니다.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a=1.1 · K=−0.6 · |w|≤0.1 · N=6 · 초기상태 2.5</a:t>
            </a:r>
          </a:p>
          <a:p>
            <a:r>
              <a:t>무작위 외란과 경계 외란을 포함한 402개 궤적을 계산했습니다. 오차 집합 불변성은 해석식으로, 명목 후보의 비용 감소와 실제 제약은 수치로 확인합니다.</a:t>
            </a:r>
          </a:p>
          <a:p/>
          <a:p>
            <a:r>
              <a:t>### 3.5.3 Tube-Based MPC of Linear Systems with Additive Disturbances — 선형 가산 외란 시스템의 튜브 MPC</a:t>
            </a:r>
          </a:p>
          <a:p/>
          <a:p>
            <a:r>
              <a:t>**교재 인쇄 pp.228–234**</a:t>
            </a:r>
          </a:p>
          <a:p/>
          <a:p>
            <a:r>
              <a:t>명목 QP에는 축소된 상태·입력 제약과 안정화 종단 조건을 사용합니다. 명목 중심을 다음 상태로 이동하면 기존 최적 입력 열을 이동한 후보가 다음 문제의 실행 가능성을 보장합니다. 아래 실습에서는 보조 피드백 K=-0.6과 명목 종단 LQR 이득 Kf를 구분합니다. 실제 상태는 원점 자체가 아니라 원점 주변 오차 집합에 접근합니다.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Example 3.13 · 오프라인 근사 길이 N=1…25 · 꼭짓점 대조</a:t>
            </a:r>
          </a:p>
          <a:p>
            <a:r>
              <a:t>α&lt;1은 N=3부터지만 모든 명목 한계가 비음수인 것은 N=4부터입니다. 유한 오차 합을 외접 보정 없이 불변 집합으로 쓰지 않습니다.</a:t>
            </a:r>
          </a:p>
          <a:p/>
          <a:p>
            <a:r>
              <a:t>### 3.5.3 Tube-Based MPC of Linear Systems with Additive Disturbances — 선형 가산 외란 시스템의 튜브 MPC</a:t>
            </a:r>
          </a:p>
          <a:p/>
          <a:p>
            <a:r>
              <a:t>**교재 인쇄 pp.228–234**</a:t>
            </a:r>
          </a:p>
          <a:p/>
          <a:p>
            <a:r>
              <a:t>명목 QP에는 축소된 상태·입력 제약과 안정화 종단 조건을 사용합니다. 명목 중심을 다음 상태로 이동하면 기존 최적 입력 열을 이동한 후보가 다음 문제의 실행 가능성을 보장합니다. 아래 실습에서는 보조 피드백 K=-0.6과 명목 종단 LQR 이득 Kf를 구분합니다. 실제 상태는 원점 자체가 아니라 원점 주변 오차 집합에 접근합니다.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3.5.4 Improved Tube-Based MPC of Linear Systems with Additive Disturbances — 명목 중심을 최적화하는 개선된 튜브 MPC</a:t>
            </a:r>
          </a:p>
          <a:p/>
          <a:p>
            <a:r>
              <a:t>**교재 인쇄 pp.234–236**</a:t>
            </a:r>
          </a:p>
          <a:p/>
          <a:p>
            <a:r>
              <a:t>현재 실제 상태가 새 튜브 안에 있다는 조건을 유지하면서 명목 초기상태도 최적화할 수 있습니다. 기존 중심이 후보로 남으면 최적 명목 비용은 그 후보보다 커지지 않습니다. 아래 스칼라 실습은 정확한 불변 구간을 사용하는 보충 구성입니다. 명목 비용 개선과 실제 누적 비용 개선은 같은 주장이 아닙니다.</a:t>
            </a:r>
          </a:p>
          <a:p/>
          <a:p>
            <a:r>
              <a:t>$$</a:t>
            </a:r>
          </a:p>
          <a:p>
            <a:r>
              <a:t>\min_{z_0,v}V_N(z_0,v)\quad\mathrm{s.t.}\quad x-z_0\in 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초기 실제 상태 2.9 · 초기 후보 중심 2.7 · 오차 반경 0.2</a:t>
            </a:r>
          </a:p>
          <a:p>
            <a:r>
              <a:t>실제 상태가 축소 상태 한계 바깥에 있어도 적절한 중심을 선택할 수 있습니다. 이후 시점에서는 기존 중심을 후보로 삼아 실행 가능성과 명목 비용 개선을 확인합니다.</a:t>
            </a:r>
          </a:p>
          <a:p/>
          <a:p>
            <a:r>
              <a:t>### 3.5.4 Improved Tube-Based MPC of Linear Systems with Additive Disturbances — 명목 중심을 최적화하는 개선된 튜브 MPC</a:t>
            </a:r>
          </a:p>
          <a:p/>
          <a:p>
            <a:r>
              <a:t>**교재 인쇄 pp.234–236**</a:t>
            </a:r>
          </a:p>
          <a:p/>
          <a:p>
            <a:r>
              <a:t>현재 실제 상태가 새 튜브 안에 있다는 조건을 유지하면서 명목 초기상태도 최적화할 수 있습니다. 기존 중심이 후보로 남으면 최적 명목 비용은 그 후보보다 커지지 않습니다. 아래 스칼라 실습은 정확한 불변 구간을 사용하는 보충 구성입니다. 명목 비용 개선과 실제 누적 비용 개선은 같은 주장이 아닙니다.</a:t>
            </a:r>
          </a:p>
          <a:p/>
          <a:p>
            <a:r>
              <a:t>$$</a:t>
            </a:r>
          </a:p>
          <a:p>
            <a:r>
              <a:t>\min_{z_0,v}V_N(z_0,v)\quad\mathrm{s.t.}\quad x-z_0\in 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3.5.4 Improved Tube-Based MPC of Linear Systems with Additive Disturbances — 명목 중심을 최적화하는 개선된 튜브 MPC</a:t>
            </a:r>
          </a:p>
          <a:p/>
          <a:p>
            <a:r>
              <a:t>**교재 인쇄 pp.234–236**</a:t>
            </a:r>
          </a:p>
          <a:p/>
          <a:p>
            <a:r>
              <a:t>현재 실제 상태가 새 튜브 안에 있다는 조건을 유지하면서 명목 초기상태도 최적화할 수 있습니다. 기존 중심이 후보로 남으면 최적 명목 비용은 그 후보보다 커지지 않습니다. 아래 스칼라 실습은 정확한 불변 구간을 사용하는 보충 구성입니다. 명목 비용 개선과 실제 누적 비용 개선은 같은 주장이 아닙니다.</a:t>
            </a:r>
          </a:p>
          <a:p/>
          <a:p>
            <a:r>
              <a:t>$$</a:t>
            </a:r>
          </a:p>
          <a:p>
            <a:r>
              <a:t>\min_{z_0,v}V_N(z_0,v)\quad\mathrm{s.t.}\quad x-z_0\in 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x=2.5 · e=0.2 · Δa=0.04 · 양의 최대 외란</a:t>
            </a:r>
          </a:p>
          <a:p>
            <a:r>
              <a:t>기존 반경은 0.2지만 다음 실제 오차는 0.3입니다. 반경 0.44는 |x|≤3 조건부 계산이며 완성된 재설계 MPC의 증명은 아닙니다.</a:t>
            </a:r>
          </a:p>
          <a:p/>
          <a:p>
            <a:r>
              <a:t>### 3.5.4 Improved Tube-Based MPC of Linear Systems with Additive Disturbances — 명목 중심을 최적화하는 개선된 튜브 MPC</a:t>
            </a:r>
          </a:p>
          <a:p/>
          <a:p>
            <a:r>
              <a:t>**교재 인쇄 pp.234–236**</a:t>
            </a:r>
          </a:p>
          <a:p/>
          <a:p>
            <a:r>
              <a:t>현재 실제 상태가 새 튜브 안에 있다는 조건을 유지하면서 명목 초기상태도 최적화할 수 있습니다. 기존 중심이 후보로 남으면 최적 명목 비용은 그 후보보다 커지지 않습니다. 아래 스칼라 실습은 정확한 불변 구간을 사용하는 보충 구성입니다. 명목 비용 개선과 실제 누적 비용 개선은 같은 주장이 아닙니다.</a:t>
            </a:r>
          </a:p>
          <a:p/>
          <a:p>
            <a:r>
              <a:t>$$</a:t>
            </a:r>
          </a:p>
          <a:p>
            <a:r>
              <a:t>\min_{z_0,v}V_N(z_0,v)\quad\mathrm{s.t.}\quad x-z_0\in S</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3.6 Tube-Based MPC of Nonlinear Systems — 비선형 시스템의 튜브 MPC</a:t>
            </a:r>
          </a:p>
          <a:p/>
          <a:p>
            <a:r>
              <a:t>**교재 인쇄 pp.236–246**</a:t>
            </a:r>
          </a:p>
          <a:p/>
          <a:p>
            <a:r>
              <a:t>비선형 모델의 오차 변화는 일반적으로 오차 하나만의 선형식으로 분리되지 않습니다. 교재는 명목 경로를 따라가는 보조 MPC와 시변 값 함수의 부분집합으로 튜브를 설명합니다. 선형 불변 집합 계산을 그대로 대입할 수는 없습니다.</a:t>
            </a:r>
          </a:p>
          <a:p/>
          <a:p>
            <a:r>
              <a:t>$$</a:t>
            </a:r>
          </a:p>
          <a:p>
            <a:r>
              <a:t>e^+=f(x,u,w)-f(z,v,0)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3.6.1 The Nominal Trajectory — 명목 궤적</a:t>
            </a:r>
          </a:p>
          <a:p/>
          <a:p>
            <a:r>
              <a:t>**교재 인쇄 pp.238**</a:t>
            </a:r>
          </a:p>
          <a:p/>
          <a:p>
            <a:r>
              <a:t>명목 경로는 원래 제약에서 여유를 둔 상태·입력 한계를 지키도록 생성합니다. 이 절의 구성에서는 명목 종단 상태를 0으로 고정하고 이후 명목 상태와 입력을 0으로 연장합니다. 명목 경로가 실행 가능하다는 사실과 실제 불확실한 경로의 제약 만족은 구분해야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3.6.2 Model Predictive Controller — 명목 경로를 추종하는 보조 MPC</a:t>
            </a:r>
          </a:p>
          <a:p/>
          <a:p>
            <a:r>
              <a:t>**교재 인쇄 pp.238–242**</a:t>
            </a:r>
          </a:p>
          <a:p/>
          <a:p>
            <a:r>
              <a:t>보조 MPC는 현재 실제 상태에서 시작하여 명목 경로와의 상태·입력 편차 비용을 최소화합니다. 교재의 이 구성은 입력 제약을 직접 사용하며, 상태·종단 조건은 가중 종단 비용과 부분집합 논리로 분석합니다. 아래의 유한 구간 SLSQP 실습은 이 추종 구조를 보여 주는 보충 예이며 교재 정리의 모든 상수를 검증한 것은 아닙니다.</a:t>
            </a:r>
          </a:p>
          <a:p/>
          <a:p>
            <a:r>
              <a:t>$$</a:t>
            </a:r>
          </a:p>
          <a:p>
            <a:r>
              <a:t>J_a=\sum_{j=0}^{H-1}\left(\|x_j-z_{t+j}\|_Q^2+\|u_j-v_{t+j}\|_R^2\right)+V_f(x_H)</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3.6.3 Choosing the Nominal Constraint Sets Ū and X̄ — 명목 입력·상태 제약 집합의 선택</a:t>
            </a:r>
          </a:p>
          <a:p/>
          <a:p>
            <a:r>
              <a:t>**교재 인쇄 pp.242–246**</a:t>
            </a:r>
          </a:p>
          <a:p/>
          <a:p>
            <a:r>
              <a:t>명목 제어에 사용할 입력과 외란 억제를 위한 입력 여유를 나누고, 실제 튜브가 상태 제약 안에 놓이도록 명목 한계를 선택합니다. 아래에서는 보조 MPC를 수치적으로 검사하고, 별도의 비선형 상쇄 피드백에 대해서는 스칼라 오차 경계를 해석적으로 보입니다. 상쇄 피드백의 증명을 보조 MPC의 보장으로 옮겨 쓰지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f(x,u)=0.85x+0.05x³+0.5u · |w|≤0.02 · 명목 구간 8</a:t>
            </a:r>
          </a:p>
          <a:p>
            <a:r>
              <a:t>보조 MPC는 선택한 외란에서 수치적으로 확인했습니다. 음영의 해석적 오차 경계는 별도의 비선형 상쇄 피드백에 대한 보장이며, 두 제어기의 보장을 혼동하지 않습니다.</a:t>
            </a:r>
          </a:p>
          <a:p/>
          <a:p>
            <a:r>
              <a:t>### 3.6.3 Choosing the Nominal Constraint Sets Ū and X̄ — 명목 입력·상태 제약 집합의 선택</a:t>
            </a:r>
          </a:p>
          <a:p/>
          <a:p>
            <a:r>
              <a:t>**교재 인쇄 pp.242–246**</a:t>
            </a:r>
          </a:p>
          <a:p/>
          <a:p>
            <a:r>
              <a:t>명목 제어에 사용할 입력과 외란 억제를 위한 입력 여유를 나누고, 실제 튜브가 상태 제약 안에 놓이도록 명목 한계를 선택합니다. 아래에서는 보조 MPC를 수치적으로 검사하고, 별도의 비선형 상쇄 피드백에 대해서는 스칼라 오차 경계를 해석적으로 보입니다. 상쇄 피드백의 증명을 보조 MPC의 보장으로 옮겨 쓰지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3.7 Stochastic MPC — 확률적 MPC</a:t>
            </a:r>
          </a:p>
          <a:p/>
          <a:p>
            <a:r>
              <a:t>**교재 인쇄 pp.246–257**</a:t>
            </a:r>
          </a:p>
          <a:p/>
          <a:p>
            <a:r>
              <a:t>확률적 MPC는 외란의 확률 모델을 사용합니다. 기대 비용을 최소화하는 것과 위반 확률을 제한하는 것은 다른 목표입니다. 무계 외란에 선형 오차 피드백을 쓰면서 모든 상태·입력에 유계의 강제약을 요구하면 양립할 수 없는 경우가 생깁니다.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3.7.1 Introduction — 확률적 제약의 의미</a:t>
            </a:r>
          </a:p>
          <a:p/>
          <a:p>
            <a:r>
              <a:t>**교재 인쇄 pp.246–248**</a:t>
            </a:r>
          </a:p>
          <a:p/>
          <a:p>
            <a:r>
              <a:t>각 시점에서 95% 제약 만족을 보장해도 구간 전체가 95% 확률로 안전하다는 뜻은 아닙니다. 결합 사건을 직접 다루거나 합집합 상계로 전체 위험을 배분해야 합니다. 다음 실습의 가우스 오차는 분산 재귀가 정확한 별도 예이며, 뒤의 유계 외란 튜브 제어와 가정을 구분합니다.</a:t>
            </a:r>
          </a:p>
          <a:p/>
          <a:p>
            <a:r>
              <a:t>$$</a:t>
            </a:r>
          </a:p>
          <a:p>
            <a:r>
              <a:t>\sigma_{j+1}^2=\rho^2\sigma_j^2+\sigma_w^2,\qquad m_j=\Phi^{-1}(1-\epsilon_j/2)\sigma_j,\qquad\sum_j\epsilon_j\le\epsilon</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가우스 외란 표준편차 0.1 · ρ=0.5 · 20단계 · 30,000개 경로</a:t>
            </a:r>
          </a:p>
          <a:p>
            <a:r>
              <a:t>각 시점의 95% 범위와 구간 전체 95%를 위한 보수적인 범위를 비교합니다. 구간 전체 위반은 별도 사건으로 세며, 표본 빈도는 이론적 보장 자체가 아닙니다.</a:t>
            </a:r>
          </a:p>
          <a:p/>
          <a:p>
            <a:r>
              <a:t>### 3.7.1 Introduction — 확률적 제약의 의미</a:t>
            </a:r>
          </a:p>
          <a:p/>
          <a:p>
            <a:r>
              <a:t>**교재 인쇄 pp.246–248**</a:t>
            </a:r>
          </a:p>
          <a:p/>
          <a:p>
            <a:r>
              <a:t>각 시점에서 95% 제약 만족을 보장해도 구간 전체가 95% 확률로 안전하다는 뜻은 아닙니다. 결합 사건을 직접 다루거나 합집합 상계로 전체 위험을 배분해야 합니다. 다음 실습의 가우스 오차는 분산 재귀가 정확한 별도 예이며, 뒤의 유계 외란 튜브 제어와 가정을 구분합니다.</a:t>
            </a:r>
          </a:p>
          <a:p/>
          <a:p>
            <a:r>
              <a:t>$$</a:t>
            </a:r>
          </a:p>
          <a:p>
            <a:r>
              <a:t>\sigma_{j+1}^2=\rho^2\sigma_j^2+\sigma_w^2,\qquad m_j=\Phi^{-1}(1-\epsilon_j/2)\sigma_j,\qquad\sum_j\epsilon_j\le\epsilon</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3.7.2 Stabilizing Conditions — 확률적 안정화 조건</a:t>
            </a:r>
          </a:p>
          <a:p/>
          <a:p>
            <a:r>
              <a:t>**교재 인쇄 pp.248**</a:t>
            </a:r>
          </a:p>
          <a:p/>
          <a:p>
            <a:r>
              <a:t>지속 잡음이 있으면 모든 궤적의 원점 수렴 대신 기대값, 평균 제곱, 정상 분포 등 적절한 안정성 개념을 정해야 합니다. 교재는 무계 외란에서 유계 종단 집합의 강인 불변성을 요구하는 어려움을 설명합니다. 다음 실습은 제약 없는 안정한 확률 오차계의 분산 수렴을 보여 주며 완전한 확률적 MPC 안정성 증명은 아닙니다.</a:t>
            </a:r>
          </a:p>
          <a:p/>
          <a:p>
            <a:r>
              <a:t>$$</a:t>
            </a:r>
          </a:p>
          <a:p>
            <a:r>
              <a:t>\mathbb E[e_{k+1}^2]=\rho^2\mathbb E[e_k^2]+\sigma_w^2,\qquad\sigma_\infty^2=\frac{\sigma_w^2}{1-\rho^2}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ρ=0.5 · 가우스 잡음 표준편차 0.1 · 30,000개 경로</a:t>
            </a:r>
          </a:p>
          <a:p>
            <a:r>
              <a:t>안정한 오차계의 분산은 양의 정상값에 접근합니다. 해석적 재귀와 독립 경로의 표본 분산을 비교하며, 원점으로의 경로별 수렴으로 해석하지 않습니다.</a:t>
            </a:r>
          </a:p>
          <a:p/>
          <a:p>
            <a:r>
              <a:t>### 3.7.2 Stabilizing Conditions — 확률적 안정화 조건</a:t>
            </a:r>
          </a:p>
          <a:p/>
          <a:p>
            <a:r>
              <a:t>**교재 인쇄 pp.248**</a:t>
            </a:r>
          </a:p>
          <a:p/>
          <a:p>
            <a:r>
              <a:t>지속 잡음이 있으면 모든 궤적의 원점 수렴 대신 기대값, 평균 제곱, 정상 분포 등 적절한 안정성 개념을 정해야 합니다. 교재는 무계 외란에서 유계 종단 집합의 강인 불변성을 요구하는 어려움을 설명합니다. 다음 실습은 제약 없는 안정한 확률 오차계의 분산 수렴을 보여 주며 완전한 확률적 MPC 안정성 증명은 아닙니다.</a:t>
            </a:r>
          </a:p>
          <a:p/>
          <a:p>
            <a:r>
              <a:t>$$</a:t>
            </a:r>
          </a:p>
          <a:p>
            <a:r>
              <a:t>\mathbb E[e_{k+1}^2]=\rho^2\mathbb E[e_k^2]+\sigma_w^2,\qquad\sigma_\infty^2=\frac{\sigma_w^2}{1-\rho^2}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3.7.3 Stochastic Optimization — 확률적 최적화</a:t>
            </a:r>
          </a:p>
          <a:p/>
          <a:p>
            <a:r>
              <a:t>**교재 인쇄 pp.248–249**</a:t>
            </a:r>
          </a:p>
          <a:p/>
          <a:p>
            <a:r>
              <a:t>시나리오 설계는 표본 외란 경로에 대해 제약을 부과하여 계산 가능한 문제로 바꿉니다. ε는 새 경로의 위반 확률 목표이고 β는 표본으로 설계한 해가 그 목표를 만족하지 못할 확률입니다. 독립적인 검증 경로의 경험 빈도는 또 다른 표본 통계입니다. 아래에서는 구간 최대 절대 오차의 최댓값을 여유로 선택하는 스칼라 시나리오 문제를 풉니다.</a:t>
            </a:r>
          </a:p>
          <a:p/>
          <a:p>
            <a:r>
              <a:t>$$</a:t>
            </a:r>
          </a:p>
          <a:p>
            <a:r>
              <a:t>M\ge\frac{2}{\epsilon}\left(\log\frac1\beta+d\right),\qquad m=\max_{r=1,\ldots,M}\max_{j=0,\ldots,N}|e_j^{(r)}|</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3.7.3 Stochastic Optimization — 확률적 최적화</a:t>
            </a:r>
          </a:p>
          <a:p/>
          <a:p>
            <a:r>
              <a:t>**교재 인쇄 pp.248–249**</a:t>
            </a:r>
          </a:p>
          <a:p/>
          <a:p>
            <a:r>
              <a:t>시나리오 설계는 표본 외란 경로에 대해 제약을 부과하여 계산 가능한 문제로 바꿉니다. ε는 새 경로의 위반 확률 목표이고 β는 표본으로 설계한 해가 그 목표를 만족하지 못할 확률입니다. 독립적인 검증 경로의 경험 빈도는 또 다른 표본 통계입니다. 아래에서는 구간 최대 절대 오차의 최댓값을 여유로 선택하는 스칼라 시나리오 문제를 풉니다.</a:t>
            </a:r>
          </a:p>
          <a:p/>
          <a:p>
            <a:r>
              <a:t>$$</a:t>
            </a:r>
          </a:p>
          <a:p>
            <a:r>
              <a:t>M\ge\frac{2}{\epsilon}\left(\log\frac1\beta+d\right),\qquad m=\max_{r=1,\ldots,M}\max_{j=0,\ldots,N}|e_j^{(r)}|</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균등 외란 ±0.1 · 12단계 · ε=0.05 · β=0.01 · 결정 변수 1개</a:t>
            </a:r>
          </a:p>
          <a:p>
            <a:r>
              <a:t>구간 최대 오차를 하나의 표본값으로 다룹니다. 독립 검증의 위반 빈도와 상측 신뢰한계를 함께 기록하며, 유계 외란의 강인 반경과 비교합니다.</a:t>
            </a:r>
          </a:p>
          <a:p/>
          <a:p>
            <a:r>
              <a:t>### 3.7.3 Stochastic Optimization — 확률적 최적화</a:t>
            </a:r>
          </a:p>
          <a:p/>
          <a:p>
            <a:r>
              <a:t>**교재 인쇄 pp.248–249**</a:t>
            </a:r>
          </a:p>
          <a:p/>
          <a:p>
            <a:r>
              <a:t>시나리오 설계는 표본 외란 경로에 대해 제약을 부과하여 계산 가능한 문제로 바꿉니다. ε는 새 경로의 위반 확률 목표이고 β는 표본으로 설계한 해가 그 목표를 만족하지 못할 확률입니다. 독립적인 검증 경로의 경험 빈도는 또 다른 표본 통계입니다. 아래에서는 구간 최대 절대 오차의 최댓값을 여유로 선택하는 스칼라 시나리오 문제를 풉니다.</a:t>
            </a:r>
          </a:p>
          <a:p/>
          <a:p>
            <a:r>
              <a:t>$$</a:t>
            </a:r>
          </a:p>
          <a:p>
            <a:r>
              <a:t>M\ge\frac{2}{\epsilon}\left(\log\frac1\beta+d\right),\qquad m=\max_{r=1,\ldots,M}\max_{j=0,\ldots,N}|e_j^{(r)}|</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3.7.3 Stochastic Optimization — 확률적 최적화</a:t>
            </a:r>
          </a:p>
          <a:p/>
          <a:p>
            <a:r>
              <a:t>**교재 인쇄 pp.248–249**</a:t>
            </a:r>
          </a:p>
          <a:p/>
          <a:p>
            <a:r>
              <a:t>시나리오 설계는 표본 외란 경로에 대해 제약을 부과하여 계산 가능한 문제로 바꿉니다. ε는 새 경로의 위반 확률 목표이고 β는 표본으로 설계한 해가 그 목표를 만족하지 못할 확률입니다. 독립적인 검증 경로의 경험 빈도는 또 다른 표본 통계입니다. 아래에서는 구간 최대 절대 오차의 최댓값을 여유로 선택하는 스칼라 시나리오 문제를 풉니다.</a:t>
            </a:r>
          </a:p>
          <a:p/>
          <a:p>
            <a:r>
              <a:t>$$</a:t>
            </a:r>
          </a:p>
          <a:p>
            <a:r>
              <a:t>M\ge\frac{2}{\epsilon}\left(\log\frac1\beta+d\right),\qquad m=\max_{r=1,\ldots,M}\max_{j=0,\ldots,N}|e_j^{(r)}|</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설계 ε=0.05 · 검증 95% 단측 신뢰상한</a:t>
            </a:r>
          </a:p>
          <a:p>
            <a:r>
              <a:t>ε=0.05, β=0.01이면 최대값 설계 최소 표본은 90개입니다. 독립 100회 무위반이어도 상측 신뢰한계는 약 2.95%입니다.</a:t>
            </a:r>
          </a:p>
          <a:p/>
          <a:p>
            <a:r>
              <a:t>### 3.7.3 Stochastic Optimization — 확률적 최적화</a:t>
            </a:r>
          </a:p>
          <a:p/>
          <a:p>
            <a:r>
              <a:t>**교재 인쇄 pp.248–249**</a:t>
            </a:r>
          </a:p>
          <a:p/>
          <a:p>
            <a:r>
              <a:t>시나리오 설계는 표본 외란 경로에 대해 제약을 부과하여 계산 가능한 문제로 바꿉니다. ε는 새 경로의 위반 확률 목표이고 β는 표본으로 설계한 해가 그 목표를 만족하지 못할 확률입니다. 독립적인 검증 경로의 경험 빈도는 또 다른 표본 통계입니다. 아래에서는 구간 최대 절대 오차의 최댓값을 여유로 선택하는 스칼라 시나리오 문제를 풉니다.</a:t>
            </a:r>
          </a:p>
          <a:p/>
          <a:p>
            <a:r>
              <a:t>$$</a:t>
            </a:r>
          </a:p>
          <a:p>
            <a:r>
              <a:t>M\ge\frac{2}{\epsilon}\left(\log\frac1\beta+d\right),\qquad m=\max_{r=1,\ldots,M}\max_{j=0,\ldots,N}|e_j^{(r)}|</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3.7.4 Tube-Based Stochastic MPC for Linear Constrained Systems — 선형 제약 시스템의 확률적 튜브 MPC</a:t>
            </a:r>
          </a:p>
          <a:p/>
          <a:p>
            <a:r>
              <a:t>**교재 인쇄 pp.249–257**</a:t>
            </a:r>
          </a:p>
          <a:p/>
          <a:p>
            <a:r>
              <a:t>교재의 이 구성은 유계 확률 외란을 사용합니다. 입력은 강인 오차 반경으로 축소하여 항상 한계를 지키고, 상태는 표본 설계 여유로 완화합니다. 명목 종단 상태를 강인하게 안전한 집합에 넣으면 이후 상태 제약을 강인하게 보장할 수 있습니다. 아래에서는 초기 시점에 길이 12의 명목 계획을 구해 이후 0으로 연장하며, 실제 상태로 명목 중심을 재설정하지 않습니다.</a:t>
            </a:r>
          </a:p>
          <a:p/>
          <a:p>
            <a:r>
              <a:t>$$</a:t>
            </a:r>
          </a:p>
          <a:p>
            <a:r>
              <a:t>|v_j|\le u_{\max}-|K|s,\qquad |z_j|\le x_{\max}-m,\qquad z_N=0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균등 외란 ±0.1 · 초기상태 2.81 · N=12 · 명목 종단 상태 0</a:t>
            </a:r>
          </a:p>
          <a:p>
            <a:r>
              <a:t>계획 구간의 상태 여유는 확률적으로 설계하고 입력과 종단 이후는 유계 외란 전체에 대해 다룹니다. 이번 경로들의 실제 위반이 0이어도 확률 0을 증명한 것은 아닙니다.</a:t>
            </a:r>
          </a:p>
          <a:p/>
          <a:p>
            <a:r>
              <a:t>### 3.7.4 Tube-Based Stochastic MPC for Linear Constrained Systems — 선형 제약 시스템의 확률적 튜브 MPC</a:t>
            </a:r>
          </a:p>
          <a:p/>
          <a:p>
            <a:r>
              <a:t>**교재 인쇄 pp.249–257**</a:t>
            </a:r>
          </a:p>
          <a:p/>
          <a:p>
            <a:r>
              <a:t>교재의 이 구성은 유계 확률 외란을 사용합니다. 입력은 강인 오차 반경으로 축소하여 항상 한계를 지키고, 상태는 표본 설계 여유로 완화합니다. 명목 종단 상태를 강인하게 안전한 집합에 넣으면 이후 상태 제약을 강인하게 보장할 수 있습니다. 아래에서는 초기 시점에 길이 12의 명목 계획을 구해 이후 0으로 연장하며, 실제 상태로 명목 중심을 재설정하지 않습니다.</a:t>
            </a:r>
          </a:p>
          <a:p/>
          <a:p>
            <a:r>
              <a:t>$$</a:t>
            </a:r>
          </a:p>
          <a:p>
            <a:r>
              <a:t>|v_j|\le u_{\max}-|K|s,\qquad |z_j|\le x_{\max}-m,\qquad z_N=0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같은 표본 설계 여유 · 분포별 독립 20,000 경로 · 길이 12</a:t>
            </a:r>
          </a:p>
          <a:p>
            <a:r>
              <a:t>같은 ±0.1 범위라도 양 끝점에 집중된 외란은 확률적 여유를 더 자주 넘습니다. 강인 반경과 확률적 여유의 초과 사건을 구분하세요.</a:t>
            </a:r>
          </a:p>
          <a:p/>
          <a:p>
            <a:r>
              <a:t>### 3.7.4 Tube-Based Stochastic MPC for Linear Constrained Systems — 선형 제약 시스템의 확률적 튜브 MPC</a:t>
            </a:r>
          </a:p>
          <a:p/>
          <a:p>
            <a:r>
              <a:t>**교재 인쇄 pp.249–257**</a:t>
            </a:r>
          </a:p>
          <a:p/>
          <a:p>
            <a:r>
              <a:t>교재의 이 구성은 유계 확률 외란을 사용합니다. 입력은 강인 오차 반경으로 축소하여 항상 한계를 지키고, 상태는 표본 설계 여유로 완화합니다. 명목 종단 상태를 강인하게 안전한 집합에 넣으면 이후 상태 제약을 강인하게 보장할 수 있습니다. 아래에서는 초기 시점에 길이 12의 명목 계획을 구해 이후 0으로 연장하며, 실제 상태로 명목 중심을 재설정하지 않습니다.</a:t>
            </a:r>
          </a:p>
          <a:p/>
          <a:p>
            <a:r>
              <a:t>$$</a:t>
            </a:r>
          </a:p>
          <a:p>
            <a:r>
              <a:t>|v_j|\le u_{\max}-|K|s,\qquad |z_j|\le x_{\max}-m,\qquad z_N=0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3.8 Notes — 문헌 해설</a:t>
            </a:r>
          </a:p>
          <a:p/>
          <a:p>
            <a:r>
              <a:t>**교재 인쇄 pp.257–262**</a:t>
            </a:r>
          </a:p>
          <a:p/>
          <a:p>
            <a:r>
              <a:t>관련 연구를 읽을 때 불확실성 집합, 정책의 매개변수화, 강인·확률적 제약, 온라인·오프라인 계산을 비교합니다. 교재의 문헌 논의는 해당 판의 시점을 기준으로 하며 현재 기법 전체를 평가하는 자료는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3.9 Exercises — 연습문제</a:t>
            </a:r>
          </a:p>
          <a:p/>
          <a:p>
            <a:r>
              <a:t>**교재 인쇄 pp.262–268**</a:t>
            </a:r>
          </a:p>
          <a:p/>
          <a:p>
            <a:r>
              <a:t>교재 연습문제 3.2는 최대값 차이 부등식, 3.3은 튜브 중심 제약의 동치 표현, 3.6은 강인 MPC 시뮬레이션을 다룹니다. 원본 문제는 교재의 번호로 확인하세요. 아래에는 이번 보충 예제를 확장하는 과제와 힌트를 제공합니다.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5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5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unsPark00/rawlings-model-predictive-control-notes/blob/main/chapter03_robust_stochastic_mpc/examples/chapter03.ipynb"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제3장 · 품질 보강판</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강인 및 확률적 모델 예측 제어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불확실성의 범위와 분포를 구분하고 필요한 보장을 설계합니다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 인쇄 pp.193–268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01</a:t>
            </a:r>
          </a:p>
        </p:txBody>
      </p:sp>
      <p:sp>
        <p:nvSpPr>
          <p:cNvPr id="8" name="TextBox 7"/>
          <p:cNvSpPr txBox="1"/>
          <p:nvPr/>
        </p:nvSpPr>
        <p:spPr>
          <a:xfrm>
            <a:off x="731520" y="2514600"/>
            <a:ext cx="6583680" cy="1371600"/>
          </a:xfrm>
          <a:prstGeom prst="rect">
            <a:avLst/>
          </a:prstGeom>
          <a:noFill/>
        </p:spPr>
        <p:txBody>
          <a:bodyPr wrap="square" lIns="0" rIns="0" tIns="0" bIns="0">
            <a:spAutoFit/>
          </a:bodyPr>
          <a:lstStyle/>
          <a:p>
            <a:pPr>
              <a:lnSpc>
                <a:spcPct val="114000"/>
              </a:lnSpc>
              <a:spcBef>
                <a:spcPts val="0"/>
              </a:spcBef>
              <a:spcAft>
                <a:spcPts val="0"/>
              </a:spcAft>
            </a:pPr>
            <a:r>
              <a:rPr sz="3400" b="1">
                <a:solidFill>
                  <a:srgbClr val="13293D"/>
                </a:solidFill>
                <a:latin typeface="맑은 고딕"/>
              </a:rPr>
              <a:t>불확실한 미래에서</a:t>
            </a:r>
          </a:p>
          <a:p>
            <a:pPr>
              <a:lnSpc>
                <a:spcPct val="114000"/>
              </a:lnSpc>
              <a:spcBef>
                <a:spcPts val="0"/>
              </a:spcBef>
              <a:spcAft>
                <a:spcPts val="0"/>
              </a:spcAft>
            </a:pPr>
            <a:r>
              <a:rPr sz="3400" b="1">
                <a:solidFill>
                  <a:srgbClr val="13293D"/>
                </a:solidFill>
                <a:latin typeface="맑은 고딕"/>
              </a:rPr>
              <a:t>무엇을 보장할 것인가</a:t>
            </a:r>
          </a:p>
        </p:txBody>
      </p:sp>
      <p:sp>
        <p:nvSpPr>
          <p:cNvPr id="9" name="TextBox 8"/>
          <p:cNvSpPr txBox="1"/>
          <p:nvPr/>
        </p:nvSpPr>
        <p:spPr>
          <a:xfrm>
            <a:off x="731520" y="4297680"/>
            <a:ext cx="6583680" cy="1097280"/>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5C6B76"/>
                </a:solidFill>
                <a:latin typeface="맑은 고딕"/>
              </a:rPr>
              <a:t>원본 피드백 비교 · 2차원 제약 축소</a:t>
            </a:r>
          </a:p>
          <a:p>
            <a:pPr>
              <a:lnSpc>
                <a:spcPct val="114000"/>
              </a:lnSpc>
              <a:spcBef>
                <a:spcPts val="0"/>
              </a:spcBef>
              <a:spcAft>
                <a:spcPts val="0"/>
              </a:spcAft>
            </a:pPr>
            <a:r>
              <a:rPr sz="2200" b="0">
                <a:solidFill>
                  <a:srgbClr val="5C6B76"/>
                </a:solidFill>
                <a:latin typeface="맑은 고딕"/>
              </a:rPr>
              <a:t>튜브 · 정보 순서 · 확률과 검증</a:t>
            </a:r>
          </a:p>
        </p:txBody>
      </p:sp>
      <p:sp>
        <p:nvSpPr>
          <p:cNvPr id="10" name="Rectangle 9"/>
          <p:cNvSpPr/>
          <p:nvPr/>
        </p:nvSpPr>
        <p:spPr>
          <a:xfrm>
            <a:off x="7909560" y="2377440"/>
            <a:ext cx="3566160" cy="3200400"/>
          </a:xfrm>
          <a:prstGeom prst="rect">
            <a:avLst/>
          </a:prstGeom>
          <a:solidFill>
            <a:srgbClr val="087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79" y="2697480"/>
            <a:ext cx="2926080" cy="54864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FFFFFF"/>
                </a:solidFill>
                <a:latin typeface="맑은 고딕"/>
              </a:rPr>
              <a:t>원본 교재 제3장</a:t>
            </a:r>
          </a:p>
        </p:txBody>
      </p:sp>
      <p:sp>
        <p:nvSpPr>
          <p:cNvPr id="12" name="TextBox 11"/>
          <p:cNvSpPr txBox="1"/>
          <p:nvPr/>
        </p:nvSpPr>
        <p:spPr>
          <a:xfrm>
            <a:off x="8183879" y="3474720"/>
            <a:ext cx="2926080" cy="1554480"/>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FFFFFF"/>
                </a:solidFill>
                <a:latin typeface="맑은 고딕"/>
              </a:rPr>
              <a:t>31개 절·하위 절</a:t>
            </a:r>
          </a:p>
          <a:p>
            <a:pPr>
              <a:lnSpc>
                <a:spcPct val="114000"/>
              </a:lnSpc>
              <a:spcBef>
                <a:spcPts val="0"/>
              </a:spcBef>
              <a:spcAft>
                <a:spcPts val="0"/>
              </a:spcAft>
            </a:pPr>
            <a:r>
              <a:rPr sz="1800" b="0">
                <a:solidFill>
                  <a:srgbClr val="FFFFFF"/>
                </a:solidFill>
                <a:latin typeface="맑은 고딕"/>
              </a:rPr>
              <a:t>원본 재현과 보충 실습</a:t>
            </a:r>
          </a:p>
          <a:p>
            <a:pPr>
              <a:lnSpc>
                <a:spcPct val="114000"/>
              </a:lnSpc>
              <a:spcBef>
                <a:spcPts val="0"/>
              </a:spcBef>
              <a:spcAft>
                <a:spcPts val="0"/>
              </a:spcAft>
            </a:pPr>
            <a:r>
              <a:rPr sz="1800" b="0">
                <a:solidFill>
                  <a:srgbClr val="FFFFFF"/>
                </a:solidFill>
                <a:latin typeface="맑은 고딕"/>
              </a:rPr>
              <a:t>한글 설명·수식·그래프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학습 지도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원본에서 실습으로 이어지는 학습 흐름</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정책의 정보 구조, 오차 집합, 확률의 의미를 연결합니다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 공통 안내</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3.1–3.4: 불확실성과 정책의 정보 순서를</a:t>
            </a:r>
          </a:p>
          <a:p>
            <a:pPr>
              <a:lnSpc>
                <a:spcPct val="114000"/>
              </a:lnSpc>
              <a:spcBef>
                <a:spcPts val="0"/>
              </a:spcBef>
              <a:spcAft>
                <a:spcPts val="0"/>
              </a:spcAft>
            </a:pPr>
            <a:r>
              <a:rPr sz="1800" b="0">
                <a:solidFill>
                  <a:srgbClr val="13293D"/>
                </a:solidFill>
                <a:latin typeface="맑은 고딕"/>
              </a:rPr>
              <a:t>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3.5–3.6: 오차 집합과 입력 여유로 튜브를</a:t>
            </a:r>
          </a:p>
          <a:p>
            <a:pPr>
              <a:lnSpc>
                <a:spcPct val="114000"/>
              </a:lnSpc>
              <a:spcBef>
                <a:spcPts val="0"/>
              </a:spcBef>
              <a:spcAft>
                <a:spcPts val="0"/>
              </a:spcAft>
            </a:pPr>
            <a:r>
              <a:rPr sz="1800" b="0">
                <a:solidFill>
                  <a:srgbClr val="13293D"/>
                </a:solidFill>
                <a:latin typeface="맑은 고딕"/>
              </a:rPr>
              <a:t>설계합니다.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3.7–3.9: 확률 제약과 표본 검증의 의미를</a:t>
            </a:r>
          </a:p>
          <a:p>
            <a:pPr>
              <a:lnSpc>
                <a:spcPct val="114000"/>
              </a:lnSpc>
              <a:spcBef>
                <a:spcPts val="0"/>
              </a:spcBef>
              <a:spcAft>
                <a:spcPts val="0"/>
              </a:spcAft>
            </a:pPr>
            <a:r>
              <a:rPr sz="1800" b="0">
                <a:solidFill>
                  <a:srgbClr val="13293D"/>
                </a:solidFill>
                <a:latin typeface="맑은 고딕"/>
              </a:rPr>
              <a:t>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원본 재현</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피드백 비교 · Example 3.13</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해석적 검사</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불변 반경 · 외접 보정</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표본 검사</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독립 경로 · 단측 신뢰상한</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표기와 검증</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실제 상태와 명목 중심을 따로 저장합니다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K에는 음의 부호를 포함합니다 · 원본 재현 비용의 1/2는 유지</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 공통 안내</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실제 상태를 매번 명목 중심으로 재설정하지</a:t>
            </a:r>
          </a:p>
          <a:p>
            <a:pPr>
              <a:lnSpc>
                <a:spcPct val="114000"/>
              </a:lnSpc>
              <a:spcBef>
                <a:spcPts val="0"/>
              </a:spcBef>
              <a:spcAft>
                <a:spcPts val="0"/>
              </a:spcAft>
            </a:pPr>
            <a:r>
              <a:rPr sz="1800" b="0">
                <a:solidFill>
                  <a:srgbClr val="13293D"/>
                </a:solidFill>
                <a:latin typeface="맑은 고딕"/>
              </a:rPr>
              <a:t>않습니다.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모델 오차가 외란 집합 안에 포함되는지</a:t>
            </a:r>
          </a:p>
          <a:p>
            <a:pPr>
              <a:lnSpc>
                <a:spcPct val="114000"/>
              </a:lnSpc>
              <a:spcBef>
                <a:spcPts val="0"/>
              </a:spcBef>
              <a:spcAft>
                <a:spcPts val="0"/>
              </a:spcAft>
            </a:pPr>
            <a:r>
              <a:rPr sz="1800" b="0">
                <a:solidFill>
                  <a:srgbClr val="13293D"/>
                </a:solidFill>
                <a:latin typeface="맑은 고딕"/>
              </a:rPr>
              <a:t>확인합니다.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수치 실험과 모든 외란에 대한 보장을</a:t>
            </a:r>
          </a:p>
          <a:p>
            <a:pPr>
              <a:lnSpc>
                <a:spcPct val="114000"/>
              </a:lnSpc>
              <a:spcBef>
                <a:spcPts val="0"/>
              </a:spcBef>
              <a:spcAft>
                <a:spcPts val="0"/>
              </a:spcAft>
            </a:pPr>
            <a:r>
              <a:rPr sz="1800" b="0">
                <a:solidFill>
                  <a:srgbClr val="13293D"/>
                </a:solidFill>
                <a:latin typeface="맑은 고딕"/>
              </a:rPr>
              <a:t>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상태 분해</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z + e</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실제 입력</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v + Ke</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오차 변화</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e⁺ = (A+BK)e + 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3.1 개요</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§3.1 · 인쇄 pp.193–204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04</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실제 미래는 여러 가능한 궤적으로 나타납니다.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예측 구간 안에서의 피드백을 고려합니다.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보장할 외란 집합 또는 확률 모델을</a:t>
            </a:r>
          </a:p>
          <a:p>
            <a:pPr>
              <a:lnSpc>
                <a:spcPct val="114000"/>
              </a:lnSpc>
              <a:spcBef>
                <a:spcPts val="0"/>
              </a:spcBef>
              <a:spcAft>
                <a:spcPts val="0"/>
              </a:spcAft>
            </a:pPr>
            <a:r>
              <a:rPr sz="1800" b="0">
                <a:solidFill>
                  <a:srgbClr val="13293D"/>
                </a:solidFill>
                <a:latin typeface="맑은 고딕"/>
              </a:rPr>
              <a:t>명시합니다.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불확실한 모델</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f(x,u,w)</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외란 집합</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w ∈ W</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제어 정책</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a:t>
            </a:r>
            <a:r>
              <a:rPr sz="1584" b="0" baseline="-25000">
                <a:solidFill>
                  <a:srgbClr val="13293D"/>
                </a:solidFill>
                <a:latin typeface="Cambria Math"/>
              </a:rPr>
              <a:t>j</a:t>
            </a:r>
            <a:r>
              <a:rPr sz="2200" b="0">
                <a:solidFill>
                  <a:srgbClr val="13293D"/>
                </a:solidFill>
                <a:latin typeface="Cambria Math"/>
              </a:rPr>
              <a:t> = π</a:t>
            </a:r>
            <a:r>
              <a:rPr sz="1584" b="0" baseline="-25000">
                <a:solidFill>
                  <a:srgbClr val="13293D"/>
                </a:solidFill>
                <a:latin typeface="Cambria Math"/>
              </a:rPr>
              <a:t>j</a:t>
            </a:r>
            <a:r>
              <a:rPr sz="2200" b="0">
                <a:solidFill>
                  <a:srgbClr val="13293D"/>
                </a:solidFill>
                <a:latin typeface="Cambria Math"/>
              </a:rPr>
              <a:t>(x</a:t>
            </a:r>
            <a:r>
              <a:rPr sz="1584" b="0" baseline="-25000">
                <a:solidFill>
                  <a:srgbClr val="13293D"/>
                </a:solidFill>
                <a:latin typeface="Cambria Math"/>
              </a:rPr>
              <a:t>j</a:t>
            </a:r>
            <a:r>
              <a:rPr sz="2200" b="0">
                <a:solidFill>
                  <a:srgbClr val="13293D"/>
                </a:solidFill>
                <a:latin typeface="Cambria Math"/>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3.1.1 불확실성의 종류</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§3.1.1 · 인쇄 pp.193–195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가산 외란과 모델 파라미터 오차를 구분합니다.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측정 오차는 피드백이 사용하는 상태를</a:t>
            </a:r>
          </a:p>
          <a:p>
            <a:pPr>
              <a:lnSpc>
                <a:spcPct val="114000"/>
              </a:lnSpc>
              <a:spcBef>
                <a:spcPts val="0"/>
              </a:spcBef>
              <a:spcAft>
                <a:spcPts val="0"/>
              </a:spcAft>
            </a:pPr>
            <a:r>
              <a:rPr sz="1800" b="0">
                <a:solidFill>
                  <a:srgbClr val="13293D"/>
                </a:solidFill>
                <a:latin typeface="맑은 고딕"/>
              </a:rPr>
              <a:t>바꿉니다.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분포와 허용 범위는 서로 다른 정보입니다.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가산 외란</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Ax + Bu + w</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파라미터 불확실성</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A = A(θ)</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측정값</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y = Cx + η</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3.1.2 피드백과 개방루프 제어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§3.1.2 · 인쇄 pp.195–200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06</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입력 열은 미래 관측과 무관하게 고정됩니다.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정책은 이미 관측한 정보에 반응합니다.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같은 과거를 공유하는 분기의 입력은 같습니다.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입력 열</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(u</a:t>
            </a:r>
            <a:r>
              <a:rPr sz="1584" b="0" baseline="-25000">
                <a:solidFill>
                  <a:srgbClr val="13293D"/>
                </a:solidFill>
                <a:latin typeface="Cambria Math"/>
              </a:rPr>
              <a:t>0</a:t>
            </a:r>
            <a:r>
              <a:rPr sz="2200" b="0">
                <a:solidFill>
                  <a:srgbClr val="13293D"/>
                </a:solidFill>
                <a:latin typeface="Cambria Math"/>
              </a:rPr>
              <a:t>,…,u</a:t>
            </a:r>
            <a:r>
              <a:rPr sz="1584" b="0" baseline="-25000">
                <a:solidFill>
                  <a:srgbClr val="13293D"/>
                </a:solidFill>
                <a:latin typeface="Cambria Math"/>
              </a:rPr>
              <a:t>N−1</a:t>
            </a:r>
            <a:r>
              <a:rPr sz="2200" b="0">
                <a:solidFill>
                  <a:srgbClr val="13293D"/>
                </a:solidFill>
                <a:latin typeface="Cambria Math"/>
              </a:rPr>
              <a:t>)</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인과적 정책</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a:t>
            </a:r>
            <a:r>
              <a:rPr sz="1584" b="0" baseline="-25000">
                <a:solidFill>
                  <a:srgbClr val="13293D"/>
                </a:solidFill>
                <a:latin typeface="Cambria Math"/>
              </a:rPr>
              <a:t>j</a:t>
            </a:r>
            <a:r>
              <a:rPr sz="2200" b="0">
                <a:solidFill>
                  <a:srgbClr val="13293D"/>
                </a:solidFill>
                <a:latin typeface="Cambria Math"/>
              </a:rPr>
              <a:t> = π</a:t>
            </a:r>
            <a:r>
              <a:rPr sz="1584" b="0" baseline="-25000">
                <a:solidFill>
                  <a:srgbClr val="13293D"/>
                </a:solidFill>
                <a:latin typeface="Cambria Math"/>
              </a:rPr>
              <a:t>j</a:t>
            </a:r>
            <a:r>
              <a:rPr sz="2200" b="0">
                <a:solidFill>
                  <a:srgbClr val="13293D"/>
                </a:solidFill>
                <a:latin typeface="Cambria Math"/>
              </a:rPr>
              <a:t>(x</a:t>
            </a:r>
            <a:r>
              <a:rPr sz="1584" b="0" baseline="-25000">
                <a:solidFill>
                  <a:srgbClr val="13293D"/>
                </a:solidFill>
                <a:latin typeface="Cambria Math"/>
              </a:rPr>
              <a:t>j</a:t>
            </a:r>
            <a:r>
              <a:rPr sz="2200" b="0">
                <a:solidFill>
                  <a:srgbClr val="13293D"/>
                </a:solidFill>
                <a:latin typeface="Cambria Math"/>
              </a:rPr>
              <a:t>)</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정보 제약</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미래 외란을 미리 사용하지 않음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원본의 입력 열과 피드백 정책을 계산합니다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pp.195–199 · 적분기 · 초기상태 1 · N=3 · 명목 비용 설계</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§3.1.2 · 인쇄 pp.195–200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07</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고정 입력 열</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 = (−8/13, −3/13, −1/13)</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처음 계산한 입력을 외란 발생 뒤에도 그대로 사용</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상태 피드백</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K = (−8/13, −3/5, −1/2)</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각 시점의 현재 상태에 남은 구간의 이득을 적용</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무외란 비용</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V = 21/26</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p.195 상수항 3x²/2는 직접 전개하면 2x² · 입력 해에는 영향 없음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같은 명목 계획도 외란 후 궤적은 달라집니다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Figure 3.1 · w=0, +1, −1 · 8개 꼭짓점 경로 대조</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§3.1.2 · 인쇄 pp.195–200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08</a:t>
            </a:r>
          </a:p>
        </p:txBody>
      </p:sp>
      <p:pic>
        <p:nvPicPr>
          <p:cNvPr id="8" name="Picture 7" descr="book_feedback.png"/>
          <p:cNvPicPr>
            <a:picLocks noChangeAspect="1"/>
          </p:cNvPicPr>
          <p:nvPr/>
        </p:nvPicPr>
        <p:blipFill>
          <a:blip r:embed="rId2"/>
          <a:stretch>
            <a:fillRect/>
          </a:stretch>
        </p:blipFill>
        <p:spPr>
          <a:xfrm>
            <a:off x="1359614" y="2148840"/>
            <a:ext cx="9472465"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종단 튜브 폭은 고정 입력 6, 상태 피드백 3.4입니다. 명목 이득의 비교이며 최소–최대 최적 정책의 재현은 아닙니다.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3.1.3 강인 MPC와 확률적 MPC</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§3.1.3 · 인쇄 pp.200–202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09</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강인 설계는 허용 외란 전체를 다룹니다.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확률 설계는 분포와 위반 확률을 사용합니다.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개별 시점과 전체 구간의 사건을 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강인 제약</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j</a:t>
            </a:r>
            <a:r>
              <a:rPr sz="2200" b="0">
                <a:solidFill>
                  <a:srgbClr val="13293D"/>
                </a:solidFill>
                <a:latin typeface="Cambria Math"/>
              </a:rPr>
              <a:t> ∈ X  ∀w ∈ W</a:t>
            </a:r>
            <a:r>
              <a:rPr sz="1584" b="0" baseline="30000">
                <a:solidFill>
                  <a:srgbClr val="13293D"/>
                </a:solidFill>
                <a:latin typeface="Cambria Math"/>
              </a:rPr>
              <a:t>N</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개별 확률 제약</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P(x</a:t>
            </a:r>
            <a:r>
              <a:rPr sz="1584" b="0" baseline="-25000">
                <a:solidFill>
                  <a:srgbClr val="13293D"/>
                </a:solidFill>
                <a:latin typeface="Cambria Math"/>
              </a:rPr>
              <a:t>j</a:t>
            </a:r>
            <a:r>
              <a:rPr sz="2200" b="0">
                <a:solidFill>
                  <a:srgbClr val="13293D"/>
                </a:solidFill>
                <a:latin typeface="Cambria Math"/>
              </a:rPr>
              <a:t> ∈ X) ≥ 1−ε</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구간 확률 제약</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P(모든 j에서 제약 만족) ≥ 1−ε</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3.1.4 튜브</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§3.1.4 · 인쇄 pp.202–203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각 시점의 가능한 상태를 하나의 집합으로</a:t>
            </a:r>
          </a:p>
          <a:p>
            <a:pPr>
              <a:lnSpc>
                <a:spcPct val="114000"/>
              </a:lnSpc>
              <a:spcBef>
                <a:spcPts val="0"/>
              </a:spcBef>
              <a:spcAft>
                <a:spcPts val="0"/>
              </a:spcAft>
            </a:pPr>
            <a:r>
              <a:rPr sz="1800" b="0">
                <a:solidFill>
                  <a:srgbClr val="13293D"/>
                </a:solidFill>
                <a:latin typeface="맑은 고딕"/>
              </a:rPr>
              <a:t>묶습니다.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명목 궤적을 중심으로 오차 범위를 더합니다.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피드백은 외란에 의한 퍼짐을 줄일 수</a:t>
            </a:r>
          </a:p>
          <a:p>
            <a:pPr>
              <a:lnSpc>
                <a:spcPct val="114000"/>
              </a:lnSpc>
              <a:spcBef>
                <a:spcPts val="0"/>
              </a:spcBef>
              <a:spcAft>
                <a:spcPts val="0"/>
              </a:spcAft>
            </a:pPr>
            <a:r>
              <a:rPr sz="1800" b="0">
                <a:solidFill>
                  <a:srgbClr val="13293D"/>
                </a:solidFill>
                <a:latin typeface="맑은 고딕"/>
              </a:rPr>
              <a:t>있습니다.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튜브 단면</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j</a:t>
            </a:r>
            <a:r>
              <a:rPr sz="2200" b="0">
                <a:solidFill>
                  <a:srgbClr val="13293D"/>
                </a:solidFill>
                <a:latin typeface="Cambria Math"/>
              </a:rPr>
              <a:t> = {z</a:t>
            </a:r>
            <a:r>
              <a:rPr sz="1584" b="0" baseline="-25000">
                <a:solidFill>
                  <a:srgbClr val="13293D"/>
                </a:solidFill>
                <a:latin typeface="Cambria Math"/>
              </a:rPr>
              <a:t>j</a:t>
            </a:r>
            <a:r>
              <a:rPr sz="2200" b="0">
                <a:solidFill>
                  <a:srgbClr val="13293D"/>
                </a:solidFill>
                <a:latin typeface="Cambria Math"/>
              </a:rPr>
              <a:t>} ⊕ S</a:t>
            </a:r>
            <a:r>
              <a:rPr sz="1584" b="0" baseline="-25000">
                <a:solidFill>
                  <a:srgbClr val="13293D"/>
                </a:solidFill>
                <a:latin typeface="Cambria Math"/>
              </a:rPr>
              <a:t>j</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오차</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e = x−z</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스칼라 반경 재귀</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s</a:t>
            </a:r>
            <a:r>
              <a:rPr sz="1584" b="0" baseline="-25000">
                <a:solidFill>
                  <a:srgbClr val="13293D"/>
                </a:solidFill>
                <a:latin typeface="Cambria Math"/>
              </a:rPr>
              <a:t>j+1</a:t>
            </a:r>
            <a:r>
              <a:rPr sz="2200" b="0">
                <a:solidFill>
                  <a:srgbClr val="13293D"/>
                </a:solidFill>
                <a:latin typeface="Cambria Math"/>
              </a:rPr>
              <a:t> = ρ s</a:t>
            </a:r>
            <a:r>
              <a:rPr sz="1584" b="0" baseline="-25000">
                <a:solidFill>
                  <a:srgbClr val="13293D"/>
                </a:solidFill>
                <a:latin typeface="Cambria Math"/>
              </a:rPr>
              <a:t>j</a:t>
            </a:r>
            <a:r>
              <a:rPr sz="2200" b="0">
                <a:solidFill>
                  <a:srgbClr val="13293D"/>
                </a:solidFill>
                <a:latin typeface="Cambria Math"/>
              </a:rPr>
              <a:t> + w</a:t>
            </a:r>
            <a:r>
              <a:rPr sz="1584" b="0" baseline="-25000">
                <a:solidFill>
                  <a:srgbClr val="13293D"/>
                </a:solidFill>
                <a:latin typeface="Cambria Math"/>
              </a:rPr>
              <a:t>max</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튜브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a=1.1 · K=−0.6 · 외란 범위 ±0.1 · 초기 오차 0</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§3.1.4 · 인쇄 pp.202–203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11</a:t>
            </a:r>
          </a:p>
        </p:txBody>
      </p:sp>
      <p:pic>
        <p:nvPicPr>
          <p:cNvPr id="8" name="Picture 7" descr="tube_width.png"/>
          <p:cNvPicPr>
            <a:picLocks noChangeAspect="1"/>
          </p:cNvPicPr>
          <p:nvPr/>
        </p:nvPicPr>
        <p:blipFill>
          <a:blip r:embed="rId2"/>
          <a:stretch>
            <a:fillRect/>
          </a:stretch>
        </p:blipFill>
        <p:spPr>
          <a:xfrm>
            <a:off x="1836340" y="2148840"/>
            <a:ext cx="8519013"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가산 외란의 구간 경계는 정확하게 전파됩니다. 피드백이 없는 경우와 있는 경우의 반경을 비교하고, 짧은 구간의 모든 외란</a:t>
            </a:r>
          </a:p>
          <a:p>
            <a:pPr>
              <a:lnSpc>
                <a:spcPct val="114000"/>
              </a:lnSpc>
              <a:spcBef>
                <a:spcPts val="0"/>
              </a:spcBef>
              <a:spcAft>
                <a:spcPts val="0"/>
              </a:spcAft>
            </a:pPr>
            <a:r>
              <a:rPr sz="1500" b="0">
                <a:solidFill>
                  <a:srgbClr val="13293D"/>
                </a:solidFill>
                <a:latin typeface="맑은 고딕"/>
              </a:rPr>
              <a:t>꼭짓점으로 대조합니다.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3.1.5 불확실한 시스템의 차분 포함 표현</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§3.1.5 · 인쇄 pp.203–204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한 점 대신 가능한 다음 상태의 집합을 씁니다.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모든 외란의 이미지를 합쳐 집합을 만듭니다.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강인 실행 가능성은 집합 포함 관계입니다.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집합값 동역학</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F(x,u)</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가능한 다음 상태</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F(x,u) = {f(x,u,w): w∈W}</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강인 전임 조건</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F(x,u) ⊆ X</a:t>
            </a:r>
            <a:r>
              <a:rPr sz="1584" b="0" baseline="-25000">
                <a:solidFill>
                  <a:srgbClr val="13293D"/>
                </a:solidFill>
                <a:latin typeface="Cambria Math"/>
              </a:rPr>
              <a:t>next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3.2 명목 제어의 내재적 강인성</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§3.2 · 인쇄 pp.204–214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명목 안정성만으로 강인성을 결론 내리지</a:t>
            </a:r>
          </a:p>
          <a:p>
            <a:pPr>
              <a:lnSpc>
                <a:spcPct val="114000"/>
              </a:lnSpc>
              <a:spcBef>
                <a:spcPts val="0"/>
              </a:spcBef>
              <a:spcAft>
                <a:spcPts val="0"/>
              </a:spcAft>
            </a:pPr>
            <a:r>
              <a:rPr sz="1800" b="0">
                <a:solidFill>
                  <a:srgbClr val="13293D"/>
                </a:solidFill>
                <a:latin typeface="맑은 고딕"/>
              </a:rPr>
              <a:t>않습니다.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제약 경계와 불연속성을 살펴봅니다.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지속 외란에서는 작은 집합으로의 접근을</a:t>
            </a:r>
          </a:p>
          <a:p>
            <a:pPr>
              <a:lnSpc>
                <a:spcPct val="114000"/>
              </a:lnSpc>
              <a:spcBef>
                <a:spcPts val="0"/>
              </a:spcBef>
              <a:spcAft>
                <a:spcPts val="0"/>
              </a:spcAft>
            </a:pPr>
            <a:r>
              <a:rPr sz="1800" b="0">
                <a:solidFill>
                  <a:srgbClr val="13293D"/>
                </a:solidFill>
                <a:latin typeface="맑은 고딕"/>
              </a:rPr>
              <a:t>봅니다.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명목 모델</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f(x,κ</a:t>
            </a:r>
            <a:r>
              <a:rPr sz="1584" b="0" baseline="-25000">
                <a:solidFill>
                  <a:srgbClr val="13293D"/>
                </a:solidFill>
                <a:latin typeface="Cambria Math"/>
              </a:rPr>
              <a:t>N</a:t>
            </a:r>
            <a:r>
              <a:rPr sz="2200" b="0">
                <a:solidFill>
                  <a:srgbClr val="13293D"/>
                </a:solidFill>
                <a:latin typeface="Cambria Math"/>
              </a:rPr>
              <a:t>(x),0)</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외란 포함 모델</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f(x,κ</a:t>
            </a:r>
            <a:r>
              <a:rPr sz="1584" b="0" baseline="-25000">
                <a:solidFill>
                  <a:srgbClr val="13293D"/>
                </a:solidFill>
                <a:latin typeface="Cambria Math"/>
              </a:rPr>
              <a:t>N</a:t>
            </a:r>
            <a:r>
              <a:rPr sz="2200" b="0">
                <a:solidFill>
                  <a:srgbClr val="13293D"/>
                </a:solidFill>
                <a:latin typeface="Cambria Math"/>
              </a:rPr>
              <a:t>(x),w)</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실용적인 목표</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원점 주변 집합으로 접근</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3.2.1 내재적 강인성의 출발점</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§3.2.1 · 인쇄 pp.204–206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14</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최적 입력이 유일하지 않으면 제어가 불연속일</a:t>
            </a:r>
          </a:p>
          <a:p>
            <a:pPr>
              <a:lnSpc>
                <a:spcPct val="114000"/>
              </a:lnSpc>
              <a:spcBef>
                <a:spcPts val="0"/>
              </a:spcBef>
              <a:spcAft>
                <a:spcPts val="0"/>
              </a:spcAft>
            </a:pPr>
            <a:r>
              <a:rPr sz="1800" b="0">
                <a:solidFill>
                  <a:srgbClr val="13293D"/>
                </a:solidFill>
                <a:latin typeface="맑은 고딕"/>
              </a:rPr>
              <a:t>수 있습니다.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미세한 상태 변화가 다른 입력 선택을 만들 수</a:t>
            </a:r>
          </a:p>
          <a:p>
            <a:pPr>
              <a:lnSpc>
                <a:spcPct val="114000"/>
              </a:lnSpc>
              <a:spcBef>
                <a:spcPts val="0"/>
              </a:spcBef>
              <a:spcAft>
                <a:spcPts val="0"/>
              </a:spcAft>
            </a:pPr>
            <a:r>
              <a:rPr sz="1800" b="0">
                <a:solidFill>
                  <a:srgbClr val="13293D"/>
                </a:solidFill>
                <a:latin typeface="맑은 고딕"/>
              </a:rPr>
              <a:t>있습니다.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안정성 정의와 섭동 모델을 함께 확인합니다.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측정 및 과정 섭동</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f(x+e) + w</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섭동 크기</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|e|, |w| ≤ δ</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구분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명목 점근 안정성 ≠ 자동적인 강인성</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3.2.2 불연속 시스템의 차분 포함 표현</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§3.2.2 · 인쇄 pp.206–207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불연속점 주변에서 가능한 극한값을</a:t>
            </a:r>
          </a:p>
          <a:p>
            <a:pPr>
              <a:lnSpc>
                <a:spcPct val="114000"/>
              </a:lnSpc>
              <a:spcBef>
                <a:spcPts val="0"/>
              </a:spcBef>
              <a:spcAft>
                <a:spcPts val="0"/>
              </a:spcAft>
            </a:pPr>
            <a:r>
              <a:rPr sz="1800" b="0">
                <a:solidFill>
                  <a:srgbClr val="13293D"/>
                </a:solidFill>
                <a:latin typeface="맑은 고딕"/>
              </a:rPr>
              <a:t>포함합니다.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연속점에서는 원래의 다음 상태와 같습니다.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허용된 모든 변화에 공통으로 성립하는 조건을</a:t>
            </a:r>
          </a:p>
          <a:p>
            <a:pPr>
              <a:lnSpc>
                <a:spcPct val="114000"/>
              </a:lnSpc>
              <a:spcBef>
                <a:spcPts val="0"/>
              </a:spcBef>
              <a:spcAft>
                <a:spcPts val="0"/>
              </a:spcAft>
            </a:pPr>
            <a:r>
              <a:rPr sz="1800" b="0">
                <a:solidFill>
                  <a:srgbClr val="13293D"/>
                </a:solidFill>
                <a:latin typeface="맑은 고딕"/>
              </a:rPr>
              <a:t>봅니다.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정규화 후</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F(x)</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연속점</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F(x) = {f(x)}</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불연속점</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근방 함수값의 극한들을 포함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3.2.3 명목 MPC는 언제 강인한가?</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§3.2.3 · 인쇄 pp.207–209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16</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원하는 오차 수준에 맞는 외란 크기를</a:t>
            </a:r>
          </a:p>
          <a:p>
            <a:pPr>
              <a:lnSpc>
                <a:spcPct val="114000"/>
              </a:lnSpc>
              <a:spcBef>
                <a:spcPts val="0"/>
              </a:spcBef>
              <a:spcAft>
                <a:spcPts val="0"/>
              </a:spcAft>
            </a:pPr>
            <a:r>
              <a:rPr sz="1800" b="0">
                <a:solidFill>
                  <a:srgbClr val="13293D"/>
                </a:solidFill>
                <a:latin typeface="맑은 고딕"/>
              </a:rPr>
              <a:t>논합니다.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초기상태의 영역과 적용되는 가정을</a:t>
            </a:r>
          </a:p>
          <a:p>
            <a:pPr>
              <a:lnSpc>
                <a:spcPct val="114000"/>
              </a:lnSpc>
              <a:spcBef>
                <a:spcPts val="0"/>
              </a:spcBef>
              <a:spcAft>
                <a:spcPts val="0"/>
              </a:spcAft>
            </a:pPr>
            <a:r>
              <a:rPr sz="1800" b="0">
                <a:solidFill>
                  <a:srgbClr val="13293D"/>
                </a:solidFill>
                <a:latin typeface="맑은 고딕"/>
              </a:rPr>
              <a:t>명시합니다.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원점 수렴과 외란에 따른 잔여 오차를</a:t>
            </a:r>
          </a:p>
          <a:p>
            <a:pPr>
              <a:lnSpc>
                <a:spcPct val="114000"/>
              </a:lnSpc>
              <a:spcBef>
                <a:spcPts val="0"/>
              </a:spcBef>
              <a:spcAft>
                <a:spcPts val="0"/>
              </a:spcAft>
            </a:pPr>
            <a:r>
              <a:rPr sz="1800" b="0">
                <a:solidFill>
                  <a:srgbClr val="13293D"/>
                </a:solidFill>
                <a:latin typeface="맑은 고딕"/>
              </a:rPr>
              <a:t>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상태 경계의 형태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k</a:t>
            </a:r>
            <a:r>
              <a:rPr sz="2200" b="0">
                <a:solidFill>
                  <a:srgbClr val="13293D"/>
                </a:solidFill>
                <a:latin typeface="Cambria Math"/>
              </a:rPr>
              <a:t>| ≤ b(|x</a:t>
            </a:r>
            <a:r>
              <a:rPr sz="1584" b="0" baseline="-25000">
                <a:solidFill>
                  <a:srgbClr val="13293D"/>
                </a:solidFill>
                <a:latin typeface="Cambria Math"/>
              </a:rPr>
              <a:t>0</a:t>
            </a:r>
            <a:r>
              <a:rPr sz="2200" b="0">
                <a:solidFill>
                  <a:srgbClr val="13293D"/>
                </a:solidFill>
                <a:latin typeface="Cambria Math"/>
              </a:rPr>
              <a:t>|,k) + ε</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설계 질문</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어떤 δ에서 이 경계가 유지되는가?</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영역</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초기상태의 콤팩트 집합</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초기 오차는 줄어도 외란의 영향은 남습니다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선형 오차계 · |ρ|&lt;1 · 외란 크기 w̄</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§3.2.3 · 인쇄 pp.207–209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17</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한 단계</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|e⁺| ≤ |ρ| |e| + w̄</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삼각부등식으로 모든 허용 외란에 대한 상한 계산</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반복 상한</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|e</a:t>
            </a:r>
            <a:r>
              <a:rPr sz="1655" b="0" baseline="-25000">
                <a:solidFill>
                  <a:srgbClr val="13293D"/>
                </a:solidFill>
                <a:latin typeface="Cambria Math"/>
              </a:rPr>
              <a:t>k</a:t>
            </a:r>
            <a:r>
              <a:rPr sz="2300" b="0">
                <a:solidFill>
                  <a:srgbClr val="13293D"/>
                </a:solidFill>
                <a:latin typeface="Cambria Math"/>
              </a:rPr>
              <a:t>| ≤ |ρ|</a:t>
            </a:r>
            <a:r>
              <a:rPr sz="1655" b="0" baseline="30000">
                <a:solidFill>
                  <a:srgbClr val="13293D"/>
                </a:solidFill>
                <a:latin typeface="Cambria Math"/>
              </a:rPr>
              <a:t>k</a:t>
            </a:r>
            <a:r>
              <a:rPr sz="2300" b="0">
                <a:solidFill>
                  <a:srgbClr val="13293D"/>
                </a:solidFill>
                <a:latin typeface="Cambria Math"/>
              </a:rPr>
              <a:t> |e</a:t>
            </a:r>
            <a:r>
              <a:rPr sz="1655" b="0" baseline="-25000">
                <a:solidFill>
                  <a:srgbClr val="13293D"/>
                </a:solidFill>
                <a:latin typeface="Cambria Math"/>
              </a:rPr>
              <a:t>0</a:t>
            </a:r>
            <a:r>
              <a:rPr sz="2300" b="0">
                <a:solidFill>
                  <a:srgbClr val="13293D"/>
                </a:solidFill>
                <a:latin typeface="Cambria Math"/>
              </a:rPr>
              <a:t>| + s(1−|ρ|</a:t>
            </a:r>
            <a:r>
              <a:rPr sz="1655" b="0" baseline="30000">
                <a:solidFill>
                  <a:srgbClr val="13293D"/>
                </a:solidFill>
                <a:latin typeface="Cambria Math"/>
              </a:rPr>
              <a:t>k</a:t>
            </a:r>
            <a:r>
              <a:rPr sz="2300" b="0">
                <a:solidFill>
                  <a:srgbClr val="13293D"/>
                </a:solidFill>
                <a:latin typeface="Cambria Math"/>
              </a:rPr>
              <a:t>)</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초기조건의 영향과 누적 외란의 영향을 분리</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잔여 반경</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s = w̄ / (1−|ρ|)</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원점 수렴 대신 불변 구간까지의 거리가 감소</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지속 외란 아래에서는 불변 구간으로 접근합니다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ρ=0.6 · e₀=1 · 외란 상한 0, 0.04, 0.1</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§3.2.3 · 인쇄 pp.207–209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18</a:t>
            </a:r>
          </a:p>
        </p:txBody>
      </p:sp>
      <p:pic>
        <p:nvPicPr>
          <p:cNvPr id="8" name="Picture 7" descr="practical_bound.png"/>
          <p:cNvPicPr>
            <a:picLocks noChangeAspect="1"/>
          </p:cNvPicPr>
          <p:nvPr/>
        </p:nvPicPr>
        <p:blipFill>
          <a:blip r:embed="rId2"/>
          <a:stretch>
            <a:fillRect/>
          </a:stretch>
        </p:blipFill>
        <p:spPr>
          <a:xfrm>
            <a:off x="1356793" y="2148840"/>
            <a:ext cx="9478107"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항상 양의 최대 외란을 적용하면 상한이 달성됩니다. 왼쪽의 잔여 오차와 오른쪽의 집합까지 거리를 구분하세요.</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3.2.4 명목 MPC의 강인성</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§3.2.4 · 인쇄 pp.209–214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19</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명목 비용 감소와 외란에 따른 증가를</a:t>
            </a:r>
          </a:p>
          <a:p>
            <a:pPr>
              <a:lnSpc>
                <a:spcPct val="114000"/>
              </a:lnSpc>
              <a:spcBef>
                <a:spcPts val="0"/>
              </a:spcBef>
              <a:spcAft>
                <a:spcPts val="0"/>
              </a:spcAft>
            </a:pPr>
            <a:r>
              <a:rPr sz="1800" b="0">
                <a:solidFill>
                  <a:srgbClr val="13293D"/>
                </a:solidFill>
                <a:latin typeface="맑은 고딕"/>
              </a:rPr>
              <a:t>비교합니다.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작은 불변 부분집합으로의 진입을 설명합니다.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제약 경계에는 외란을 흡수할 여유가</a:t>
            </a:r>
          </a:p>
          <a:p>
            <a:pPr>
              <a:lnSpc>
                <a:spcPct val="114000"/>
              </a:lnSpc>
              <a:spcBef>
                <a:spcPts val="0"/>
              </a:spcBef>
              <a:spcAft>
                <a:spcPts val="0"/>
              </a:spcAft>
            </a:pPr>
            <a:r>
              <a:rPr sz="1800" b="0">
                <a:solidFill>
                  <a:srgbClr val="13293D"/>
                </a:solidFill>
                <a:latin typeface="맑은 고딕"/>
              </a:rPr>
              <a:t>필요합니다.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섭동 아래 비용 변화</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V(x⁺) ≤ V(x) − α(|x|) + σ(|w|)</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작은 부분집합</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R</a:t>
            </a:r>
            <a:r>
              <a:rPr sz="1584" b="0" baseline="-25000">
                <a:solidFill>
                  <a:srgbClr val="13293D"/>
                </a:solidFill>
                <a:latin typeface="Cambria Math"/>
              </a:rPr>
              <a:t>b</a:t>
            </a:r>
            <a:r>
              <a:rPr sz="2200" b="0">
                <a:solidFill>
                  <a:srgbClr val="13293D"/>
                </a:solidFill>
                <a:latin typeface="Cambria Math"/>
              </a:rPr>
              <a:t> = {x: V(x)≤b}</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실습의 경계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예측 상태 ≤ 1,  외란 w=0.08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명목 MPC의 강인성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a=1.2 · x(0)=0.9 · |u|≤0.3 · 입력 비용 가중치 100</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§3.2.4 · 인쇄 pp.209–214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20</a:t>
            </a:r>
          </a:p>
        </p:txBody>
      </p:sp>
      <p:pic>
        <p:nvPicPr>
          <p:cNvPr id="8" name="Picture 7" descr="nominal_constraint.png"/>
          <p:cNvPicPr>
            <a:picLocks noChangeAspect="1"/>
          </p:cNvPicPr>
          <p:nvPr/>
        </p:nvPicPr>
        <p:blipFill>
          <a:blip r:embed="rId2"/>
          <a:stretch>
            <a:fillRect/>
          </a:stretch>
        </p:blipFill>
        <p:spPr>
          <a:xfrm>
            <a:off x="1836340" y="2148840"/>
            <a:ext cx="8519013"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명목 예측은 상태 상한을 만족하지만 외란 적용 후에는 초과합니다. 한 단계 여유를 둔 결과와 비교하며, 이 비교만으로</a:t>
            </a:r>
          </a:p>
          <a:p>
            <a:pPr>
              <a:lnSpc>
                <a:spcPct val="114000"/>
              </a:lnSpc>
              <a:spcBef>
                <a:spcPts val="0"/>
              </a:spcBef>
              <a:spcAft>
                <a:spcPts val="0"/>
              </a:spcAft>
            </a:pPr>
            <a:r>
              <a:rPr sz="1500" b="0">
                <a:solidFill>
                  <a:srgbClr val="13293D"/>
                </a:solidFill>
                <a:latin typeface="맑은 고딕"/>
              </a:rPr>
              <a:t>다단계 안정성을 주장하지 않습니다.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3.3 최소–최대 최적 제어와 동적 계획법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§3.3 · 인쇄 pp.214–220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21</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제어는 최악의 외란에 대한 비용을 줄입니다.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다음 상태에서 다시 행동을 고를 수 있습니다.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상태·입력·외란 공간이 커지면 계산량이</a:t>
            </a:r>
          </a:p>
          <a:p>
            <a:pPr>
              <a:lnSpc>
                <a:spcPct val="114000"/>
              </a:lnSpc>
              <a:spcBef>
                <a:spcPts val="0"/>
              </a:spcBef>
              <a:spcAft>
                <a:spcPts val="0"/>
              </a:spcAft>
            </a:pPr>
            <a:r>
              <a:rPr sz="1800" b="0">
                <a:solidFill>
                  <a:srgbClr val="13293D"/>
                </a:solidFill>
                <a:latin typeface="맑은 고딕"/>
              </a:rPr>
              <a:t>늘어납니다.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강인 최적 비용</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a:t>
            </a:r>
            <a:r>
              <a:rPr sz="1584" b="0" baseline="-25000">
                <a:solidFill>
                  <a:srgbClr val="13293D"/>
                </a:solidFill>
                <a:latin typeface="Cambria Math"/>
              </a:rPr>
              <a:t>N</a:t>
            </a:r>
            <a:r>
              <a:rPr sz="2200" b="0">
                <a:solidFill>
                  <a:srgbClr val="13293D"/>
                </a:solidFill>
                <a:latin typeface="Cambria Math"/>
              </a:rPr>
              <a:t>(x) = min</a:t>
            </a:r>
            <a:r>
              <a:rPr sz="1584" b="0" baseline="-25000">
                <a:solidFill>
                  <a:srgbClr val="13293D"/>
                </a:solidFill>
                <a:latin typeface="Cambria Math"/>
              </a:rPr>
              <a:t>π</a:t>
            </a:r>
            <a:r>
              <a:rPr sz="2200" b="0">
                <a:solidFill>
                  <a:srgbClr val="13293D"/>
                </a:solidFill>
                <a:latin typeface="Cambria Math"/>
              </a:rPr>
              <a:t> max</a:t>
            </a:r>
            <a:r>
              <a:rPr sz="1584" b="0" baseline="-25000">
                <a:solidFill>
                  <a:srgbClr val="13293D"/>
                </a:solidFill>
                <a:latin typeface="Cambria Math"/>
              </a:rPr>
              <a:t>w</a:t>
            </a:r>
            <a:r>
              <a:rPr sz="2200" b="0">
                <a:solidFill>
                  <a:srgbClr val="13293D"/>
                </a:solidFill>
                <a:latin typeface="Cambria Math"/>
              </a:rPr>
              <a:t> J(x,π,w)</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외란 실현</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w ∈ W</a:t>
            </a:r>
            <a:r>
              <a:rPr sz="1584" b="0" baseline="30000">
                <a:solidFill>
                  <a:srgbClr val="13293D"/>
                </a:solidFill>
                <a:latin typeface="Cambria Math"/>
              </a:rPr>
              <a:t>N</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정책의 역할</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관측한 다음 상태에 맞춰 입력 선택</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3.3.1 최소–최대 문제의 구성</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§3.3.1 · 인쇄 pp.214–216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모든 외란에서 제약을 지키는 정책을 찾습니다.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입력을 선택한 뒤 외란이 실현됩니다.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미래 외란을 아는 계산과 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올바른 정보 순서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min</a:t>
            </a:r>
            <a:r>
              <a:rPr sz="1584" b="0" baseline="-25000">
                <a:solidFill>
                  <a:srgbClr val="13293D"/>
                </a:solidFill>
                <a:latin typeface="Cambria Math"/>
              </a:rPr>
              <a:t>u</a:t>
            </a:r>
            <a:r>
              <a:rPr sz="2200" b="0">
                <a:solidFill>
                  <a:srgbClr val="13293D"/>
                </a:solidFill>
                <a:latin typeface="Cambria Math"/>
              </a:rPr>
              <a:t> max</a:t>
            </a:r>
            <a:r>
              <a:rPr sz="1584" b="0" baseline="-25000">
                <a:solidFill>
                  <a:srgbClr val="13293D"/>
                </a:solidFill>
                <a:latin typeface="Cambria Math"/>
              </a:rPr>
              <a:t>w</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다음 단계의 실행 가능성</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f(x,u,W) ⊆ X</a:t>
            </a:r>
            <a:r>
              <a:rPr sz="1584" b="0" baseline="-25000">
                <a:solidFill>
                  <a:srgbClr val="13293D"/>
                </a:solidFill>
                <a:latin typeface="Cambria Math"/>
              </a:rPr>
              <a:t>j−1</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정책 집합</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π ∈ Π</a:t>
            </a:r>
            <a:r>
              <a:rPr sz="1584" b="0" baseline="-25000">
                <a:solidFill>
                  <a:srgbClr val="13293D"/>
                </a:solidFill>
                <a:latin typeface="Cambria Math"/>
              </a:rPr>
              <a:t>N</a:t>
            </a:r>
            <a:r>
              <a:rPr sz="2200" b="0">
                <a:solidFill>
                  <a:srgbClr val="13293D"/>
                </a:solidFill>
                <a:latin typeface="Cambria Math"/>
              </a:rPr>
              <a:t>(x)</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외란을 미리 아는 계산은 더 쉬운 문제입니다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입력 선택 → 외란 발생 → 상태 관측 → 다음 입력 선택</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§3.3.1 · 인쇄 pp.214–216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23</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실제 정보 순서</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min</a:t>
            </a:r>
            <a:r>
              <a:rPr sz="1655" b="0" baseline="-25000">
                <a:solidFill>
                  <a:srgbClr val="13293D"/>
                </a:solidFill>
                <a:latin typeface="Cambria Math"/>
              </a:rPr>
              <a:t>u</a:t>
            </a:r>
            <a:r>
              <a:rPr sz="2300" b="0">
                <a:solidFill>
                  <a:srgbClr val="13293D"/>
                </a:solidFill>
                <a:latin typeface="Cambria Math"/>
              </a:rPr>
              <a:t> max</a:t>
            </a:r>
            <a:r>
              <a:rPr sz="1655" b="0" baseline="-25000">
                <a:solidFill>
                  <a:srgbClr val="13293D"/>
                </a:solidFill>
                <a:latin typeface="Cambria Math"/>
              </a:rPr>
              <a:t>w</a:t>
            </a:r>
            <a:r>
              <a:rPr sz="2300" b="0">
                <a:solidFill>
                  <a:srgbClr val="13293D"/>
                </a:solidFill>
                <a:latin typeface="Cambria Math"/>
              </a:rPr>
              <a:t> J(u,w)</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현재 외란을 보기 전에 입력 선택</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미래 정보를 사용</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max</a:t>
            </a:r>
            <a:r>
              <a:rPr sz="1655" b="0" baseline="-25000">
                <a:solidFill>
                  <a:srgbClr val="13293D"/>
                </a:solidFill>
                <a:latin typeface="Cambria Math"/>
              </a:rPr>
              <a:t>w</a:t>
            </a:r>
            <a:r>
              <a:rPr sz="2300" b="0">
                <a:solidFill>
                  <a:srgbClr val="13293D"/>
                </a:solidFill>
                <a:latin typeface="Cambria Math"/>
              </a:rPr>
              <a:t> min</a:t>
            </a:r>
            <a:r>
              <a:rPr sz="1655" b="0" baseline="-25000">
                <a:solidFill>
                  <a:srgbClr val="13293D"/>
                </a:solidFill>
                <a:latin typeface="Cambria Math"/>
              </a:rPr>
              <a:t>u</a:t>
            </a:r>
            <a:r>
              <a:rPr sz="2300" b="0">
                <a:solidFill>
                  <a:srgbClr val="13293D"/>
                </a:solidFill>
                <a:latin typeface="Cambria Math"/>
              </a:rPr>
              <a:t> J(u,w)</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외란별로 다른 현재 입력을 허용하면 다른 문제</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시나리오 연결</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같은 과거 → 같은 입력</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비예견성 제약으로 미래 정보를 사용하는 해를 차단</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정보 순서만 바꾸어도 최악 비용은 4에서 0이 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x⁺=u+w · 입력·외란 각각 {−1,1} · 비용 (x⁺)²</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§3.3.1 · 인쇄 pp.214–216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24</a:t>
            </a:r>
          </a:p>
        </p:txBody>
      </p:sp>
      <p:pic>
        <p:nvPicPr>
          <p:cNvPr id="8" name="Picture 7" descr="information_order.png"/>
          <p:cNvPicPr>
            <a:picLocks noChangeAspect="1"/>
          </p:cNvPicPr>
          <p:nvPr/>
        </p:nvPicPr>
        <p:blipFill>
          <a:blip r:embed="rId2"/>
          <a:stretch>
            <a:fillRect/>
          </a:stretch>
        </p:blipFill>
        <p:spPr>
          <a:xfrm>
            <a:off x="1784800" y="2148840"/>
            <a:ext cx="8622094"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인과적 제어의 최악 비용은 4입니다. 외란을 미리 알면 u=−w로 0을 만들 수 있지만 실제 제어와 같은 비교가 아닙니다.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3.3.2 동적 계획법 해의 성질</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§3.3.2 · 인쇄 pp.216–220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한 단계 선택과 남은 최적 비용을 연결합니다.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작은 이산 문제의 정책을 정확히 계산합니다.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개방루프 제어와 같은 비용·제약으로</a:t>
            </a:r>
          </a:p>
          <a:p>
            <a:pPr>
              <a:lnSpc>
                <a:spcPct val="114000"/>
              </a:lnSpc>
              <a:spcBef>
                <a:spcPts val="0"/>
              </a:spcBef>
              <a:spcAft>
                <a:spcPts val="0"/>
              </a:spcAft>
            </a:pPr>
            <a:r>
              <a:rPr sz="1800" b="0">
                <a:solidFill>
                  <a:srgbClr val="13293D"/>
                </a:solidFill>
                <a:latin typeface="맑은 고딕"/>
              </a:rPr>
              <a:t>비교합니다.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벨만 재귀</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a:t>
            </a:r>
            <a:r>
              <a:rPr sz="1584" b="0" baseline="-25000">
                <a:solidFill>
                  <a:srgbClr val="13293D"/>
                </a:solidFill>
                <a:latin typeface="Cambria Math"/>
              </a:rPr>
              <a:t>j</a:t>
            </a:r>
            <a:r>
              <a:rPr sz="2200" b="0">
                <a:solidFill>
                  <a:srgbClr val="13293D"/>
                </a:solidFill>
                <a:latin typeface="Cambria Math"/>
              </a:rPr>
              <a:t> = min</a:t>
            </a:r>
            <a:r>
              <a:rPr sz="1584" b="0" baseline="-25000">
                <a:solidFill>
                  <a:srgbClr val="13293D"/>
                </a:solidFill>
                <a:latin typeface="Cambria Math"/>
              </a:rPr>
              <a:t>u</a:t>
            </a:r>
            <a:r>
              <a:rPr sz="2200" b="0">
                <a:solidFill>
                  <a:srgbClr val="13293D"/>
                </a:solidFill>
                <a:latin typeface="Cambria Math"/>
              </a:rPr>
              <a:t> max</a:t>
            </a:r>
            <a:r>
              <a:rPr sz="1584" b="0" baseline="-25000">
                <a:solidFill>
                  <a:srgbClr val="13293D"/>
                </a:solidFill>
                <a:latin typeface="Cambria Math"/>
              </a:rPr>
              <a:t>w</a:t>
            </a:r>
            <a:r>
              <a:rPr sz="2200" b="0">
                <a:solidFill>
                  <a:srgbClr val="13293D"/>
                </a:solidFill>
                <a:latin typeface="Cambria Math"/>
              </a:rPr>
              <a:t> [ℓ+V</a:t>
            </a:r>
            <a:r>
              <a:rPr sz="1584" b="0" baseline="-25000">
                <a:solidFill>
                  <a:srgbClr val="13293D"/>
                </a:solidFill>
                <a:latin typeface="Cambria Math"/>
              </a:rPr>
              <a:t>j−1</a:t>
            </a:r>
            <a:r>
              <a:rPr sz="2200" b="0">
                <a:solidFill>
                  <a:srgbClr val="13293D"/>
                </a:solidFill>
                <a:latin typeface="Cambria Math"/>
              </a:rPr>
              <a:t>(x⁺)]</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모델</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x + u + w</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유한 허용 집합</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u∈{−1,0,1}, w∈{−1,1}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동적 계획법 해의 성질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정수 상태 −4,…,4 · 예측 길이 N=3 · 종단 비용 x²</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§3.3.2 · 인쇄 pp.216–220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26</a:t>
            </a:r>
          </a:p>
        </p:txBody>
      </p:sp>
      <p:pic>
        <p:nvPicPr>
          <p:cNvPr id="8" name="Picture 7" descr="minmax_dp.png"/>
          <p:cNvPicPr>
            <a:picLocks noChangeAspect="1"/>
          </p:cNvPicPr>
          <p:nvPr/>
        </p:nvPicPr>
        <p:blipFill>
          <a:blip r:embed="rId2"/>
          <a:stretch>
            <a:fillRect/>
          </a:stretch>
        </p:blipFill>
        <p:spPr>
          <a:xfrm>
            <a:off x="1830699" y="2148840"/>
            <a:ext cx="8530296"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동적 계획법은 같은 과거를 가진 분기에서 같은 입력을 사용합니다. 모든 외란 경로를 펼쳐 최악 비용을 대조하고, 정책의</a:t>
            </a:r>
          </a:p>
          <a:p>
            <a:pPr>
              <a:lnSpc>
                <a:spcPct val="114000"/>
              </a:lnSpc>
              <a:spcBef>
                <a:spcPts val="0"/>
              </a:spcBef>
              <a:spcAft>
                <a:spcPts val="0"/>
              </a:spcAft>
            </a:pPr>
            <a:r>
              <a:rPr sz="1500" b="0">
                <a:solidFill>
                  <a:srgbClr val="13293D"/>
                </a:solidFill>
                <a:latin typeface="맑은 고딕"/>
              </a:rPr>
              <a:t>최악 비용이 개방루프보다 크지 않은지 확인합니다.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3.4 강인 최소–최대 MPC</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§3.4 · 인쇄 pp.220–223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27</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정책의 자유도를 줄여 온라인 계산을</a:t>
            </a:r>
          </a:p>
          <a:p>
            <a:pPr>
              <a:lnSpc>
                <a:spcPct val="114000"/>
              </a:lnSpc>
              <a:spcBef>
                <a:spcPts val="0"/>
              </a:spcBef>
              <a:spcAft>
                <a:spcPts val="0"/>
              </a:spcAft>
            </a:pPr>
            <a:r>
              <a:rPr sz="1800" b="0">
                <a:solidFill>
                  <a:srgbClr val="13293D"/>
                </a:solidFill>
                <a:latin typeface="맑은 고딕"/>
              </a:rPr>
              <a:t>단순화합니다.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정해진 정책 집합 안에서 최악 비용을</a:t>
            </a:r>
          </a:p>
          <a:p>
            <a:pPr>
              <a:lnSpc>
                <a:spcPct val="114000"/>
              </a:lnSpc>
              <a:spcBef>
                <a:spcPts val="0"/>
              </a:spcBef>
              <a:spcAft>
                <a:spcPts val="0"/>
              </a:spcAft>
            </a:pPr>
            <a:r>
              <a:rPr sz="1800" b="0">
                <a:solidFill>
                  <a:srgbClr val="13293D"/>
                </a:solidFill>
                <a:latin typeface="맑은 고딕"/>
              </a:rPr>
              <a:t>최소화합니다.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종단 불변성과 집합에 대한 안정성 조건을</a:t>
            </a:r>
          </a:p>
          <a:p>
            <a:pPr>
              <a:lnSpc>
                <a:spcPct val="114000"/>
              </a:lnSpc>
              <a:spcBef>
                <a:spcPts val="0"/>
              </a:spcBef>
              <a:spcAft>
                <a:spcPts val="0"/>
              </a:spcAft>
            </a:pPr>
            <a:r>
              <a:rPr sz="1800" b="0">
                <a:solidFill>
                  <a:srgbClr val="13293D"/>
                </a:solidFill>
                <a:latin typeface="맑은 고딕"/>
              </a:rPr>
              <a:t>확인합니다.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매개변수 정책의 예</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a:t>
            </a:r>
            <a:r>
              <a:rPr sz="1584" b="0" baseline="-25000">
                <a:solidFill>
                  <a:srgbClr val="13293D"/>
                </a:solidFill>
                <a:latin typeface="Cambria Math"/>
              </a:rPr>
              <a:t>j</a:t>
            </a:r>
            <a:r>
              <a:rPr sz="2200" b="0">
                <a:solidFill>
                  <a:srgbClr val="13293D"/>
                </a:solidFill>
                <a:latin typeface="Cambria Math"/>
              </a:rPr>
              <a:t> = v</a:t>
            </a:r>
            <a:r>
              <a:rPr sz="1584" b="0" baseline="-25000">
                <a:solidFill>
                  <a:srgbClr val="13293D"/>
                </a:solidFill>
                <a:latin typeface="Cambria Math"/>
              </a:rPr>
              <a:t>j</a:t>
            </a:r>
            <a:r>
              <a:rPr sz="2200" b="0">
                <a:solidFill>
                  <a:srgbClr val="13293D"/>
                </a:solidFill>
                <a:latin typeface="Cambria Math"/>
              </a:rPr>
              <a:t> + Kx</a:t>
            </a:r>
            <a:r>
              <a:rPr sz="1584" b="0" baseline="-25000">
                <a:solidFill>
                  <a:srgbClr val="13293D"/>
                </a:solidFill>
                <a:latin typeface="Cambria Math"/>
              </a:rPr>
              <a:t>j</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선형 폐루프 안정 조건</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ρ(A+BK) &lt; 1</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주의할 범위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매개변수 정책 최적해 ≠ 전체 정책 최적해</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3.5 튜브 기반 강인 MPC</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§3.5 · 인쇄 pp.223–236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28</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명목 계획과 오차 피드백을 나눕니다.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오차를 담는 집합으로 제약을 축소합니다.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명목 비용 최적화와 최소–최대 최적성을</a:t>
            </a:r>
          </a:p>
          <a:p>
            <a:pPr>
              <a:lnSpc>
                <a:spcPct val="114000"/>
              </a:lnSpc>
              <a:spcBef>
                <a:spcPts val="0"/>
              </a:spcBef>
              <a:spcAft>
                <a:spcPts val="0"/>
              </a:spcAft>
            </a:pPr>
            <a:r>
              <a:rPr sz="1800" b="0">
                <a:solidFill>
                  <a:srgbClr val="13293D"/>
                </a:solidFill>
                <a:latin typeface="맑은 고딕"/>
              </a:rPr>
              <a:t>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명목 시스템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z⁺ = Az + Bv</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실제 입력</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v + K(x−z)</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오차 시스템</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e⁺ = (A+BK)e + w</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3.5.1 튜브 MPC의 구성</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§3.5.1 · 인쇄 pp.223–224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29</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실제 상태와 명목 중심을 따로 저장합니다.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명목 입력에 오차 보정 입력을 더합니다.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중심 재설정에는 별도 실행 가능성 조건이</a:t>
            </a:r>
          </a:p>
          <a:p>
            <a:pPr>
              <a:lnSpc>
                <a:spcPct val="114000"/>
              </a:lnSpc>
              <a:spcBef>
                <a:spcPts val="0"/>
              </a:spcBef>
              <a:spcAft>
                <a:spcPts val="0"/>
              </a:spcAft>
            </a:pPr>
            <a:r>
              <a:rPr sz="1800" b="0">
                <a:solidFill>
                  <a:srgbClr val="13293D"/>
                </a:solidFill>
                <a:latin typeface="맑은 고딕"/>
              </a:rPr>
              <a:t>필요합니다.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실제 상태의 분해</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z + e</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보조 피드백</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u−v = Ke</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고정 중심의 다음 값</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z⁺ = Az + Bv</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3.5.2 선형 가산 외란 시스템의 외접 튜브</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§3.5.2 · 인쇄 pp.224–228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모든 허용 외란에서 오차 집합을 보존합니다.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상태와 입력 모두에 오차 여유를 둡니다.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스칼라 구간은 반경만으로 계산할 수 있습니다.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강인 양의 불변성</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(A+BK)S ⊕ W ⊆ S</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축소 제약</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Z = X ⊖ S,  V = U ⊖ KS</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스칼라 불변 반경</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s = w</a:t>
            </a:r>
            <a:r>
              <a:rPr sz="1584" b="0" baseline="-25000">
                <a:solidFill>
                  <a:srgbClr val="13293D"/>
                </a:solidFill>
                <a:latin typeface="Cambria Math"/>
              </a:rPr>
              <a:t>max</a:t>
            </a:r>
            <a:r>
              <a:rPr sz="2200" b="0">
                <a:solidFill>
                  <a:srgbClr val="13293D"/>
                </a:solidFill>
                <a:latin typeface="Cambria Math"/>
              </a:rPr>
              <a:t> / (1−ρ)</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오차를 담을 만큼 명목 제약을 줄입니다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스칼라 보충 실습 · 실제 상태 한계 3 · 실제 입력 한계 1</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§3.5.2 · 인쇄 pp.224–228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31</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불변 반경</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s = 0.1 / (1−0.5) = 0.2</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0.5s+0.1=s · 모든 허용 외란에서 오차 구간 보존</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상태 여유</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|z| ≤ 3−0.2 = 2.8</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|x| ≤ |z|+|e| ≤ 3</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입력 여유</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|v| ≤ 1−0.6×0.2 = 0.88</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|u| ≤ |v|+|K| |e| ≤ 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튜브 반경과 보정 입력 여유를 함께 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a=1.1 · 외란 ±0.1 · 안정한 보조 이득 K를 변화</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§3.5.2 · 인쇄 pp.224–228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32</a:t>
            </a:r>
          </a:p>
        </p:txBody>
      </p:sp>
      <p:pic>
        <p:nvPicPr>
          <p:cNvPr id="8" name="Picture 7" descr="gain_tradeoff.png"/>
          <p:cNvPicPr>
            <a:picLocks noChangeAspect="1"/>
          </p:cNvPicPr>
          <p:nvPr/>
        </p:nvPicPr>
        <p:blipFill>
          <a:blip r:embed="rId2"/>
          <a:stretch>
            <a:fillRect/>
          </a:stretch>
        </p:blipFill>
        <p:spPr>
          <a:xfrm>
            <a:off x="1356793" y="2148840"/>
            <a:ext cx="9478107"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이득을 키워 오차를 억제해도 명목 제어에 남는 입력이 줄 수 있습니다. 반경 하나만으로 이득의 성능을 평가하지 않습니다.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3.5.3 선형 가산 외란 시스템의 튜브 MPC</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§3.5.3 · 인쇄 pp.228–234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축소 제약을 만족하는 명목 QP를 풉니다.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종단 제어를 붙인 후보로 다음 문제를</a:t>
            </a:r>
          </a:p>
          <a:p>
            <a:pPr>
              <a:lnSpc>
                <a:spcPct val="114000"/>
              </a:lnSpc>
              <a:spcBef>
                <a:spcPts val="0"/>
              </a:spcBef>
              <a:spcAft>
                <a:spcPts val="0"/>
              </a:spcAft>
            </a:pPr>
            <a:r>
              <a:rPr sz="1800" b="0">
                <a:solidFill>
                  <a:srgbClr val="13293D"/>
                </a:solidFill>
                <a:latin typeface="맑은 고딕"/>
              </a:rPr>
              <a:t>연결합니다.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명목 중심은 원점으로, 실제 상태는 오차</a:t>
            </a:r>
          </a:p>
          <a:p>
            <a:pPr>
              <a:lnSpc>
                <a:spcPct val="114000"/>
              </a:lnSpc>
              <a:spcBef>
                <a:spcPts val="0"/>
              </a:spcBef>
              <a:spcAft>
                <a:spcPts val="0"/>
              </a:spcAft>
            </a:pPr>
            <a:r>
              <a:rPr sz="1800" b="0">
                <a:solidFill>
                  <a:srgbClr val="13293D"/>
                </a:solidFill>
                <a:latin typeface="맑은 고딕"/>
              </a:rPr>
              <a:t>집합으로 접근합니다.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실습의 오차 반경</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s = 0.2</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축소 한계</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|z| ≤ 2.8,  |v| ≤ 0.88</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명목 종단 조건</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|z</a:t>
            </a:r>
            <a:r>
              <a:rPr sz="1584" b="0" baseline="-25000">
                <a:solidFill>
                  <a:srgbClr val="13293D"/>
                </a:solidFill>
                <a:latin typeface="Cambria Math"/>
              </a:rPr>
              <a:t>N</a:t>
            </a:r>
            <a:r>
              <a:rPr sz="2200" b="0">
                <a:solidFill>
                  <a:srgbClr val="13293D"/>
                </a:solidFill>
                <a:latin typeface="Cambria Math"/>
              </a:rPr>
              <a:t>| ≤ 0.4,  V</a:t>
            </a:r>
            <a:r>
              <a:rPr sz="1584" b="0" baseline="-25000">
                <a:solidFill>
                  <a:srgbClr val="13293D"/>
                </a:solidFill>
                <a:latin typeface="Cambria Math"/>
              </a:rPr>
              <a:t>f</a:t>
            </a:r>
            <a:r>
              <a:rPr sz="2200" b="0">
                <a:solidFill>
                  <a:srgbClr val="13293D"/>
                </a:solidFill>
                <a:latin typeface="Cambria Math"/>
              </a:rPr>
              <a:t> = Pz</a:t>
            </a:r>
            <a:r>
              <a:rPr sz="1584" b="0" baseline="-25000">
                <a:solidFill>
                  <a:srgbClr val="13293D"/>
                </a:solidFill>
                <a:latin typeface="Cambria Math"/>
              </a:rPr>
              <a:t>N</a:t>
            </a:r>
            <a:r>
              <a:rPr sz="2200" b="0">
                <a:solidFill>
                  <a:srgbClr val="13293D"/>
                </a:solidFill>
                <a:latin typeface="Cambria Math"/>
              </a:rPr>
              <a:t>²</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 Example 3.13의 2차원 축소를 재현합니다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인쇄 pp.231–233 · 상태 각 ±1 · 입력 ±1 · 상자 외란 각 ±0.1</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§3.5.3 · 인쇄 pp.228–234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34</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원본 모델</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a:t>
            </a:r>
            <a:r>
              <a:rPr sz="1655" b="0" baseline="-25000">
                <a:solidFill>
                  <a:srgbClr val="13293D"/>
                </a:solidFill>
                <a:latin typeface="Cambria Math"/>
              </a:rPr>
              <a:t>1</a:t>
            </a:r>
            <a:r>
              <a:rPr sz="2300" b="0">
                <a:solidFill>
                  <a:srgbClr val="13293D"/>
                </a:solidFill>
                <a:latin typeface="Cambria Math"/>
              </a:rPr>
              <a:t>⁺=x</a:t>
            </a:r>
            <a:r>
              <a:rPr sz="1655" b="0" baseline="-25000">
                <a:solidFill>
                  <a:srgbClr val="13293D"/>
                </a:solidFill>
                <a:latin typeface="Cambria Math"/>
              </a:rPr>
              <a:t>1</a:t>
            </a:r>
            <a:r>
              <a:rPr sz="2300" b="0">
                <a:solidFill>
                  <a:srgbClr val="13293D"/>
                </a:solidFill>
                <a:latin typeface="Cambria Math"/>
              </a:rPr>
              <a:t>+x</a:t>
            </a:r>
            <a:r>
              <a:rPr sz="1655" b="0" baseline="-25000">
                <a:solidFill>
                  <a:srgbClr val="13293D"/>
                </a:solidFill>
                <a:latin typeface="Cambria Math"/>
              </a:rPr>
              <a:t>2</a:t>
            </a:r>
            <a:r>
              <a:rPr sz="2300" b="0">
                <a:solidFill>
                  <a:srgbClr val="13293D"/>
                </a:solidFill>
                <a:latin typeface="Cambria Math"/>
              </a:rPr>
              <a:t>+w</a:t>
            </a:r>
            <a:r>
              <a:rPr sz="1655" b="0" baseline="-25000">
                <a:solidFill>
                  <a:srgbClr val="13293D"/>
                </a:solidFill>
                <a:latin typeface="Cambria Math"/>
              </a:rPr>
              <a:t>1</a:t>
            </a:r>
            <a:r>
              <a:rPr sz="2300" b="0">
                <a:solidFill>
                  <a:srgbClr val="13293D"/>
                </a:solidFill>
                <a:latin typeface="Cambria Math"/>
              </a:rPr>
              <a:t>,  x</a:t>
            </a:r>
            <a:r>
              <a:rPr sz="1655" b="0" baseline="-25000">
                <a:solidFill>
                  <a:srgbClr val="13293D"/>
                </a:solidFill>
                <a:latin typeface="Cambria Math"/>
              </a:rPr>
              <a:t>2</a:t>
            </a:r>
            <a:r>
              <a:rPr sz="2300" b="0">
                <a:solidFill>
                  <a:srgbClr val="13293D"/>
                </a:solidFill>
                <a:latin typeface="Cambria Math"/>
              </a:rPr>
              <a:t>⁺=x</a:t>
            </a:r>
            <a:r>
              <a:rPr sz="1655" b="0" baseline="-25000">
                <a:solidFill>
                  <a:srgbClr val="13293D"/>
                </a:solidFill>
                <a:latin typeface="Cambria Math"/>
              </a:rPr>
              <a:t>2</a:t>
            </a:r>
            <a:r>
              <a:rPr sz="2300" b="0">
                <a:solidFill>
                  <a:srgbClr val="13293D"/>
                </a:solidFill>
                <a:latin typeface="Cambria Math"/>
              </a:rPr>
              <a:t>+u+w</a:t>
            </a:r>
            <a:r>
              <a:rPr sz="1655" b="0" baseline="-25000">
                <a:solidFill>
                  <a:srgbClr val="13293D"/>
                </a:solidFill>
                <a:latin typeface="Cambria Math"/>
              </a:rPr>
              <a:t>2</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보조 피드백 K=(−0.4, −1.2)</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방향별 오차 합</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θ</a:t>
            </a:r>
            <a:r>
              <a:rPr sz="1655" b="0" baseline="-25000">
                <a:solidFill>
                  <a:srgbClr val="13293D"/>
                </a:solidFill>
                <a:latin typeface="Cambria Math"/>
              </a:rPr>
              <a:t>N</a:t>
            </a:r>
            <a:r>
              <a:rPr sz="2300" b="0">
                <a:solidFill>
                  <a:srgbClr val="13293D"/>
                </a:solidFill>
                <a:latin typeface="Cambria Math"/>
              </a:rPr>
              <a:t>(c) = Σ</a:t>
            </a:r>
            <a:r>
              <a:rPr sz="1655" b="0" baseline="-25000">
                <a:solidFill>
                  <a:srgbClr val="13293D"/>
                </a:solidFill>
                <a:latin typeface="Cambria Math"/>
              </a:rPr>
              <a:t>j=0</a:t>
            </a:r>
            <a:r>
              <a:rPr sz="1655" b="0" baseline="30000">
                <a:solidFill>
                  <a:srgbClr val="13293D"/>
                </a:solidFill>
                <a:latin typeface="Cambria Math"/>
              </a:rPr>
              <a:t>N−1</a:t>
            </a:r>
            <a:r>
              <a:rPr sz="2300" b="0">
                <a:solidFill>
                  <a:srgbClr val="13293D"/>
                </a:solidFill>
                <a:latin typeface="Cambria Math"/>
              </a:rPr>
              <a:t> 0.1 ‖c A</a:t>
            </a:r>
            <a:r>
              <a:rPr sz="1655" b="0" baseline="-25000">
                <a:solidFill>
                  <a:srgbClr val="13293D"/>
                </a:solidFill>
                <a:latin typeface="Cambria Math"/>
              </a:rPr>
              <a:t>K</a:t>
            </a:r>
            <a:r>
              <a:rPr sz="1655" b="0" baseline="30000">
                <a:solidFill>
                  <a:srgbClr val="13293D"/>
                </a:solidFill>
                <a:latin typeface="Cambria Math"/>
              </a:rPr>
              <a:t>j</a:t>
            </a:r>
            <a:r>
              <a:rPr sz="2300" b="0">
                <a:solidFill>
                  <a:srgbClr val="13293D"/>
                </a:solidFill>
                <a:latin typeface="Cambria Math"/>
              </a:rPr>
              <a:t>‖</a:t>
            </a:r>
            <a:r>
              <a:rPr sz="1655" b="0" baseline="-25000">
                <a:solidFill>
                  <a:srgbClr val="13293D"/>
                </a:solidFill>
                <a:latin typeface="Cambria Math"/>
              </a:rPr>
              <a:t>1</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상태 두 방향과 입력 방향 c=K를 각각 계산</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외접 보정</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θ</a:t>
            </a:r>
            <a:r>
              <a:rPr sz="1655" b="0" baseline="-25000">
                <a:solidFill>
                  <a:srgbClr val="13293D"/>
                </a:solidFill>
                <a:latin typeface="Cambria Math"/>
              </a:rPr>
              <a:t>∞</a:t>
            </a:r>
            <a:r>
              <a:rPr sz="2300" b="0">
                <a:solidFill>
                  <a:srgbClr val="13293D"/>
                </a:solidFill>
                <a:latin typeface="Cambria Math"/>
              </a:rPr>
              <a:t>(c) ≤ θ</a:t>
            </a:r>
            <a:r>
              <a:rPr sz="1655" b="0" baseline="-25000">
                <a:solidFill>
                  <a:srgbClr val="13293D"/>
                </a:solidFill>
                <a:latin typeface="Cambria Math"/>
              </a:rPr>
              <a:t>N</a:t>
            </a:r>
            <a:r>
              <a:rPr sz="2300" b="0">
                <a:solidFill>
                  <a:srgbClr val="13293D"/>
                </a:solidFill>
                <a:latin typeface="Cambria Math"/>
              </a:rPr>
              <a:t>(c) / (1−α)</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N단계 뒤 외란 집합과 입력 이미지가 α배 안에 포함 · α&lt;1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선형 가산 외란 시스템의 튜브 MPC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a=1.1 · K=−0.6 · |w|≤0.1 · N=6 · 초기상태 2.5</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§3.5.3 · 인쇄 pp.228–234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35</a:t>
            </a:r>
          </a:p>
        </p:txBody>
      </p:sp>
      <p:pic>
        <p:nvPicPr>
          <p:cNvPr id="8" name="Picture 7" descr="robust_tube.png"/>
          <p:cNvPicPr>
            <a:picLocks noChangeAspect="1"/>
          </p:cNvPicPr>
          <p:nvPr/>
        </p:nvPicPr>
        <p:blipFill>
          <a:blip r:embed="rId2"/>
          <a:stretch>
            <a:fillRect/>
          </a:stretch>
        </p:blipFill>
        <p:spPr>
          <a:xfrm>
            <a:off x="1353972" y="2148840"/>
            <a:ext cx="9483749"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무작위 외란과 경계 외란을 포함한 402개 궤적을 계산했습니다. 오차 집합 불변성은 해석식으로, 명목 후보의 비용 감소와</a:t>
            </a:r>
          </a:p>
          <a:p>
            <a:pPr>
              <a:lnSpc>
                <a:spcPct val="114000"/>
              </a:lnSpc>
              <a:spcBef>
                <a:spcPts val="0"/>
              </a:spcBef>
              <a:spcAft>
                <a:spcPts val="0"/>
              </a:spcAft>
            </a:pPr>
            <a:r>
              <a:rPr sz="1500" b="0">
                <a:solidFill>
                  <a:srgbClr val="13293D"/>
                </a:solidFill>
                <a:latin typeface="맑은 고딕"/>
              </a:rPr>
              <a:t>실제 제약은 수치로 확인합니다.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수축 조건과 축소 집합의 존재는 다릅니다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Example 3.13 · 오프라인 근사 길이 N=1…25 · 꼭짓점 대조</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§3.5.3 · 인쇄 pp.228–234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36</a:t>
            </a:r>
          </a:p>
        </p:txBody>
      </p:sp>
      <p:pic>
        <p:nvPicPr>
          <p:cNvPr id="8" name="Picture 7" descr="book_tightening.png"/>
          <p:cNvPicPr>
            <a:picLocks noChangeAspect="1"/>
          </p:cNvPicPr>
          <p:nvPr/>
        </p:nvPicPr>
        <p:blipFill>
          <a:blip r:embed="rId2"/>
          <a:stretch>
            <a:fillRect/>
          </a:stretch>
        </p:blipFill>
        <p:spPr>
          <a:xfrm>
            <a:off x="1362435" y="2148840"/>
            <a:ext cx="9466824"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α&lt;1은 N=3부터지만 모든 명목 한계가 비음수인 것은 N=4부터입니다. 유한 오차 합을 외접 보정 없이 불변 집합으로 쓰지</a:t>
            </a:r>
          </a:p>
          <a:p>
            <a:pPr>
              <a:lnSpc>
                <a:spcPct val="114000"/>
              </a:lnSpc>
              <a:spcBef>
                <a:spcPts val="0"/>
              </a:spcBef>
              <a:spcAft>
                <a:spcPts val="0"/>
              </a:spcAft>
            </a:pPr>
            <a:r>
              <a:rPr sz="1500" b="0">
                <a:solidFill>
                  <a:srgbClr val="13293D"/>
                </a:solidFill>
                <a:latin typeface="맑은 고딕"/>
              </a:rPr>
              <a:t>않습니다.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3.5.4 명목 중심을 최적화하는 개선된 튜브 MPC</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§3.5.4 · 인쇄 pp.234–236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37</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명목 초기상태도 결정 변수로 둡니다.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실제 상태가 새 오차 집합 안에 있어야 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기존 중심과 같은 시점의 명목 비용을</a:t>
            </a:r>
          </a:p>
          <a:p>
            <a:pPr>
              <a:lnSpc>
                <a:spcPct val="114000"/>
              </a:lnSpc>
              <a:spcBef>
                <a:spcPts val="0"/>
              </a:spcBef>
              <a:spcAft>
                <a:spcPts val="0"/>
              </a:spcAft>
            </a:pPr>
            <a:r>
              <a:rPr sz="1800" b="0">
                <a:solidFill>
                  <a:srgbClr val="13293D"/>
                </a:solidFill>
                <a:latin typeface="맑은 고딕"/>
              </a:rPr>
              <a:t>비교합니다.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중심 선택 조건</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x−z</a:t>
            </a:r>
            <a:r>
              <a:rPr sz="1584" b="0" baseline="-25000">
                <a:solidFill>
                  <a:srgbClr val="13293D"/>
                </a:solidFill>
                <a:latin typeface="Cambria Math"/>
              </a:rPr>
              <a:t>0</a:t>
            </a:r>
            <a:r>
              <a:rPr sz="2200" b="0">
                <a:solidFill>
                  <a:srgbClr val="13293D"/>
                </a:solidFill>
                <a:latin typeface="Cambria Math"/>
              </a:rPr>
              <a:t> ∈ S</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목적함수</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min</a:t>
            </a:r>
            <a:r>
              <a:rPr sz="1584" b="0" baseline="-25000">
                <a:solidFill>
                  <a:srgbClr val="13293D"/>
                </a:solidFill>
                <a:latin typeface="Cambria Math"/>
              </a:rPr>
              <a:t>z_0,v</a:t>
            </a:r>
            <a:r>
              <a:rPr sz="2200" b="0">
                <a:solidFill>
                  <a:srgbClr val="13293D"/>
                </a:solidFill>
                <a:latin typeface="Cambria Math"/>
              </a:rPr>
              <a:t> V</a:t>
            </a:r>
            <a:r>
              <a:rPr sz="1584" b="0" baseline="-25000">
                <a:solidFill>
                  <a:srgbClr val="13293D"/>
                </a:solidFill>
                <a:latin typeface="Cambria Math"/>
              </a:rPr>
              <a:t>N</a:t>
            </a:r>
            <a:r>
              <a:rPr sz="2200" b="0">
                <a:solidFill>
                  <a:srgbClr val="13293D"/>
                </a:solidFill>
                <a:latin typeface="Cambria Math"/>
              </a:rPr>
              <a:t>(z</a:t>
            </a:r>
            <a:r>
              <a:rPr sz="1584" b="0" baseline="-25000">
                <a:solidFill>
                  <a:srgbClr val="13293D"/>
                </a:solidFill>
                <a:latin typeface="Cambria Math"/>
              </a:rPr>
              <a:t>0</a:t>
            </a:r>
            <a:r>
              <a:rPr sz="2200" b="0">
                <a:solidFill>
                  <a:srgbClr val="13293D"/>
                </a:solidFill>
                <a:latin typeface="Cambria Math"/>
              </a:rPr>
              <a:t>,v)</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같은 상태에서의 비용 비교</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새 최적 명목 비용 ≤ 기존 중심 비용</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명목 중심을 최적화하는 개선된 튜브 MPC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초기 실제 상태 2.9 · 초기 후보 중심 2.7 · 오차 반경 0.2</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§3.5.4 · 인쇄 pp.234–236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38</a:t>
            </a:r>
          </a:p>
        </p:txBody>
      </p:sp>
      <p:pic>
        <p:nvPicPr>
          <p:cNvPr id="8" name="Picture 7" descr="optimized_center.png"/>
          <p:cNvPicPr>
            <a:picLocks noChangeAspect="1"/>
          </p:cNvPicPr>
          <p:nvPr/>
        </p:nvPicPr>
        <p:blipFill>
          <a:blip r:embed="rId2"/>
          <a:stretch>
            <a:fillRect/>
          </a:stretch>
        </p:blipFill>
        <p:spPr>
          <a:xfrm>
            <a:off x="1353972" y="2148840"/>
            <a:ext cx="9483749"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실제 상태가 축소 상태 한계 바깥에 있어도 적절한 중심을 선택할 수 있습니다. 이후 시점에서는 기존 중심을 후보로 삼아</a:t>
            </a:r>
          </a:p>
          <a:p>
            <a:pPr>
              <a:lnSpc>
                <a:spcPct val="114000"/>
              </a:lnSpc>
              <a:spcBef>
                <a:spcPts val="0"/>
              </a:spcBef>
              <a:spcAft>
                <a:spcPts val="0"/>
              </a:spcAft>
            </a:pPr>
            <a:r>
              <a:rPr sz="1500" b="0">
                <a:solidFill>
                  <a:srgbClr val="13293D"/>
                </a:solidFill>
                <a:latin typeface="맑은 고딕"/>
              </a:rPr>
              <a:t>실행 가능성과 명목 비용 개선을 확인합니다.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모델 오차를 빼면 설계한 튜브를 벗어납니다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실제 계수 a+Δa · |x|≤X를 가정한 조건부 경계</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§3.5.4 · 인쇄 pp.234–236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39</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실제 오차 변화</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e⁺ = (a+bK)e + w + Δa x</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모델 불일치가 상태에 비례하는 추가 외란으로 나타남</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유효 외란 상한</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w̄</a:t>
            </a:r>
            <a:r>
              <a:rPr sz="1655" b="0" baseline="-25000">
                <a:solidFill>
                  <a:srgbClr val="13293D"/>
                </a:solidFill>
                <a:latin typeface="Cambria Math"/>
              </a:rPr>
              <a:t>new</a:t>
            </a:r>
            <a:r>
              <a:rPr sz="2300" b="0">
                <a:solidFill>
                  <a:srgbClr val="13293D"/>
                </a:solidFill>
                <a:latin typeface="Cambria Math"/>
              </a:rPr>
              <a:t> = w̄ + |Δa| X</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상태가 가정한 영역 안에 있을 때의 상한</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재설계</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s</a:t>
            </a:r>
            <a:r>
              <a:rPr sz="1655" b="0" baseline="-25000">
                <a:solidFill>
                  <a:srgbClr val="13293D"/>
                </a:solidFill>
                <a:latin typeface="Cambria Math"/>
              </a:rPr>
              <a:t>new</a:t>
            </a:r>
            <a:r>
              <a:rPr sz="2300" b="0">
                <a:solidFill>
                  <a:srgbClr val="13293D"/>
                </a:solidFill>
                <a:latin typeface="Cambria Math"/>
              </a:rPr>
              <a:t> = w̄</a:t>
            </a:r>
            <a:r>
              <a:rPr sz="1655" b="0" baseline="-25000">
                <a:solidFill>
                  <a:srgbClr val="13293D"/>
                </a:solidFill>
                <a:latin typeface="Cambria Math"/>
              </a:rPr>
              <a:t>new</a:t>
            </a:r>
            <a:r>
              <a:rPr sz="2300" b="0">
                <a:solidFill>
                  <a:srgbClr val="13293D"/>
                </a:solidFill>
                <a:latin typeface="Cambria Math"/>
              </a:rPr>
              <a:t> / (1−|a+bK|)</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상태·입력·종단 조건도 함께 다시 확인</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경계에서 모델 오차가 튜브를 깨는 한 단계 반례</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x=2.5 · e=0.2 · Δa=0.04 · 양의 최대 외란</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§3.5.4 · 인쇄 pp.234–236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40</a:t>
            </a:r>
          </a:p>
        </p:txBody>
      </p:sp>
      <p:pic>
        <p:nvPicPr>
          <p:cNvPr id="8" name="Picture 7" descr="model_mismatch.png"/>
          <p:cNvPicPr>
            <a:picLocks noChangeAspect="1"/>
          </p:cNvPicPr>
          <p:nvPr/>
        </p:nvPicPr>
        <p:blipFill>
          <a:blip r:embed="rId2"/>
          <a:stretch>
            <a:fillRect/>
          </a:stretch>
        </p:blipFill>
        <p:spPr>
          <a:xfrm>
            <a:off x="1836340" y="2148840"/>
            <a:ext cx="8519013"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기존 반경은 0.2지만 다음 실제 오차는 0.3입니다. 반경 0.44는 |x|≤3 조건부 계산이며 완성된 재설계 MPC의 증명은</a:t>
            </a:r>
          </a:p>
          <a:p>
            <a:pPr>
              <a:lnSpc>
                <a:spcPct val="114000"/>
              </a:lnSpc>
              <a:spcBef>
                <a:spcPts val="0"/>
              </a:spcBef>
              <a:spcAft>
                <a:spcPts val="0"/>
              </a:spcAft>
            </a:pPr>
            <a:r>
              <a:rPr sz="1500" b="0">
                <a:solidFill>
                  <a:srgbClr val="13293D"/>
                </a:solidFill>
                <a:latin typeface="맑은 고딕"/>
              </a:rPr>
              <a:t>아닙니다.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3.6 비선형 시스템의 튜브 MPC</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§3.6 · 인쇄 pp.236–246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41</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오차 변화가 실제 상태와 중심 모두에</a:t>
            </a:r>
          </a:p>
          <a:p>
            <a:pPr>
              <a:lnSpc>
                <a:spcPct val="114000"/>
              </a:lnSpc>
              <a:spcBef>
                <a:spcPts val="0"/>
              </a:spcBef>
              <a:spcAft>
                <a:spcPts val="0"/>
              </a:spcAft>
            </a:pPr>
            <a:r>
              <a:rPr sz="1800" b="0">
                <a:solidFill>
                  <a:srgbClr val="13293D"/>
                </a:solidFill>
                <a:latin typeface="맑은 고딕"/>
              </a:rPr>
              <a:t>의존합니다.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명목 경로를 추종하는 보조 MPC를 사용합니다.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값 함수의 시변 부분집합으로 튜브를</a:t>
            </a:r>
          </a:p>
          <a:p>
            <a:pPr>
              <a:lnSpc>
                <a:spcPct val="114000"/>
              </a:lnSpc>
              <a:spcBef>
                <a:spcPts val="0"/>
              </a:spcBef>
              <a:spcAft>
                <a:spcPts val="0"/>
              </a:spcAft>
            </a:pPr>
            <a:r>
              <a:rPr sz="1800" b="0">
                <a:solidFill>
                  <a:srgbClr val="13293D"/>
                </a:solidFill>
                <a:latin typeface="맑은 고딕"/>
              </a:rPr>
              <a:t>설명합니다.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비선형 오차</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e⁺ = f(x,u,w) − f(z,v,0)</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시변 튜브</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t</a:t>
            </a:r>
            <a:r>
              <a:rPr sz="2200" b="0">
                <a:solidFill>
                  <a:srgbClr val="13293D"/>
                </a:solidFill>
                <a:latin typeface="Cambria Math"/>
              </a:rPr>
              <a:t> = {x: V(x,t)≤c}</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분석 대상</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다음 시점의 부분집합으로 이동</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3.6.1 명목 궤적</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§3.6.1 · 인쇄 pp.238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축소된 상태·입력 제약으로 중심 경로를</a:t>
            </a:r>
          </a:p>
          <a:p>
            <a:pPr>
              <a:lnSpc>
                <a:spcPct val="114000"/>
              </a:lnSpc>
              <a:spcBef>
                <a:spcPts val="0"/>
              </a:spcBef>
              <a:spcAft>
                <a:spcPts val="0"/>
              </a:spcAft>
            </a:pPr>
            <a:r>
              <a:rPr sz="1800" b="0">
                <a:solidFill>
                  <a:srgbClr val="13293D"/>
                </a:solidFill>
                <a:latin typeface="맑은 고딕"/>
              </a:rPr>
              <a:t>계산합니다.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명목 종단 상태를 0으로 고정합니다.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구간 뒤의 명목 상태·입력을 0으로 연장합니다.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명목 경로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z</a:t>
            </a:r>
            <a:r>
              <a:rPr sz="1584" b="0" baseline="-25000">
                <a:solidFill>
                  <a:srgbClr val="13293D"/>
                </a:solidFill>
                <a:latin typeface="Cambria Math"/>
              </a:rPr>
              <a:t>j+1</a:t>
            </a:r>
            <a:r>
              <a:rPr sz="2200" b="0">
                <a:solidFill>
                  <a:srgbClr val="13293D"/>
                </a:solidFill>
                <a:latin typeface="Cambria Math"/>
              </a:rPr>
              <a:t> = f(z</a:t>
            </a:r>
            <a:r>
              <a:rPr sz="1584" b="0" baseline="-25000">
                <a:solidFill>
                  <a:srgbClr val="13293D"/>
                </a:solidFill>
                <a:latin typeface="Cambria Math"/>
              </a:rPr>
              <a:t>j</a:t>
            </a:r>
            <a:r>
              <a:rPr sz="2200" b="0">
                <a:solidFill>
                  <a:srgbClr val="13293D"/>
                </a:solidFill>
                <a:latin typeface="Cambria Math"/>
              </a:rPr>
              <a:t>,v</a:t>
            </a:r>
            <a:r>
              <a:rPr sz="1584" b="0" baseline="-25000">
                <a:solidFill>
                  <a:srgbClr val="13293D"/>
                </a:solidFill>
                <a:latin typeface="Cambria Math"/>
              </a:rPr>
              <a:t>j</a:t>
            </a:r>
            <a:r>
              <a:rPr sz="2200" b="0">
                <a:solidFill>
                  <a:srgbClr val="13293D"/>
                </a:solidFill>
                <a:latin typeface="Cambria Math"/>
              </a:rPr>
              <a:t>,0)</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종단 등식</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z</a:t>
            </a:r>
            <a:r>
              <a:rPr sz="1584" b="0" baseline="-25000">
                <a:solidFill>
                  <a:srgbClr val="13293D"/>
                </a:solidFill>
                <a:latin typeface="Cambria Math"/>
              </a:rPr>
              <a:t>N</a:t>
            </a:r>
            <a:r>
              <a:rPr sz="2200" b="0">
                <a:solidFill>
                  <a:srgbClr val="13293D"/>
                </a:solidFill>
                <a:latin typeface="Cambria Math"/>
              </a:rPr>
              <a:t> = 0</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구간 이후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z</a:t>
            </a:r>
            <a:r>
              <a:rPr sz="1584" b="0" baseline="-25000">
                <a:solidFill>
                  <a:srgbClr val="13293D"/>
                </a:solidFill>
                <a:latin typeface="Cambria Math"/>
              </a:rPr>
              <a:t>j</a:t>
            </a:r>
            <a:r>
              <a:rPr sz="2200" b="0">
                <a:solidFill>
                  <a:srgbClr val="13293D"/>
                </a:solidFill>
                <a:latin typeface="Cambria Math"/>
              </a:rPr>
              <a:t> = v</a:t>
            </a:r>
            <a:r>
              <a:rPr sz="1584" b="0" baseline="-25000">
                <a:solidFill>
                  <a:srgbClr val="13293D"/>
                </a:solidFill>
                <a:latin typeface="Cambria Math"/>
              </a:rPr>
              <a:t>j</a:t>
            </a:r>
            <a:r>
              <a:rPr sz="2200" b="0">
                <a:solidFill>
                  <a:srgbClr val="13293D"/>
                </a:solidFill>
                <a:latin typeface="Cambria Math"/>
              </a:rPr>
              <a:t> = 0  (j≥N)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3.6.2 명목 경로를 추종하는 보조 MPC</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§3.6.2 · 인쇄 pp.238–242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현재 실제 상태에서 미래 편차를 예측합니다.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 편차와 입력 편차를 함께 벌점화합니다.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국소 최적화의 수치 성공과 강인 증명을</a:t>
            </a:r>
          </a:p>
          <a:p>
            <a:pPr>
              <a:lnSpc>
                <a:spcPct val="114000"/>
              </a:lnSpc>
              <a:spcBef>
                <a:spcPts val="0"/>
              </a:spcBef>
              <a:spcAft>
                <a:spcPts val="0"/>
              </a:spcAft>
            </a:pPr>
            <a:r>
              <a:rPr sz="1800" b="0">
                <a:solidFill>
                  <a:srgbClr val="13293D"/>
                </a:solidFill>
                <a:latin typeface="맑은 고딕"/>
              </a:rPr>
              <a:t>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보조 제어 비용</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J</a:t>
            </a:r>
            <a:r>
              <a:rPr sz="1584" b="0" baseline="-25000">
                <a:solidFill>
                  <a:srgbClr val="13293D"/>
                </a:solidFill>
                <a:latin typeface="Cambria Math"/>
              </a:rPr>
              <a:t>a</a:t>
            </a:r>
            <a:r>
              <a:rPr sz="2200" b="0">
                <a:solidFill>
                  <a:srgbClr val="13293D"/>
                </a:solidFill>
                <a:latin typeface="Cambria Math"/>
              </a:rPr>
              <a:t> = Σ</a:t>
            </a:r>
            <a:r>
              <a:rPr sz="1584" b="0" baseline="-25000">
                <a:solidFill>
                  <a:srgbClr val="13293D"/>
                </a:solidFill>
                <a:latin typeface="Cambria Math"/>
              </a:rPr>
              <a:t>j</a:t>
            </a:r>
            <a:r>
              <a:rPr sz="2200" b="0">
                <a:solidFill>
                  <a:srgbClr val="13293D"/>
                </a:solidFill>
                <a:latin typeface="Cambria Math"/>
              </a:rPr>
              <a:t> ℓ(x</a:t>
            </a:r>
            <a:r>
              <a:rPr sz="1584" b="0" baseline="-25000">
                <a:solidFill>
                  <a:srgbClr val="13293D"/>
                </a:solidFill>
                <a:latin typeface="Cambria Math"/>
              </a:rPr>
              <a:t>j</a:t>
            </a:r>
            <a:r>
              <a:rPr sz="2200" b="0">
                <a:solidFill>
                  <a:srgbClr val="13293D"/>
                </a:solidFill>
                <a:latin typeface="Cambria Math"/>
              </a:rPr>
              <a:t>−z</a:t>
            </a:r>
            <a:r>
              <a:rPr sz="1584" b="0" baseline="-25000">
                <a:solidFill>
                  <a:srgbClr val="13293D"/>
                </a:solidFill>
                <a:latin typeface="Cambria Math"/>
              </a:rPr>
              <a:t>j</a:t>
            </a:r>
            <a:r>
              <a:rPr sz="2200" b="0">
                <a:solidFill>
                  <a:srgbClr val="13293D"/>
                </a:solidFill>
                <a:latin typeface="Cambria Math"/>
              </a:rPr>
              <a:t>,u</a:t>
            </a:r>
            <a:r>
              <a:rPr sz="1584" b="0" baseline="-25000">
                <a:solidFill>
                  <a:srgbClr val="13293D"/>
                </a:solidFill>
                <a:latin typeface="Cambria Math"/>
              </a:rPr>
              <a:t>j</a:t>
            </a:r>
            <a:r>
              <a:rPr sz="2200" b="0">
                <a:solidFill>
                  <a:srgbClr val="13293D"/>
                </a:solidFill>
                <a:latin typeface="Cambria Math"/>
              </a:rPr>
              <a:t>−v</a:t>
            </a:r>
            <a:r>
              <a:rPr sz="1584" b="0" baseline="-25000">
                <a:solidFill>
                  <a:srgbClr val="13293D"/>
                </a:solidFill>
                <a:latin typeface="Cambria Math"/>
              </a:rPr>
              <a:t>j</a:t>
            </a:r>
            <a:r>
              <a:rPr sz="2200" b="0">
                <a:solidFill>
                  <a:srgbClr val="13293D"/>
                </a:solidFill>
                <a:latin typeface="Cambria Math"/>
              </a:rPr>
              <a:t>)+V</a:t>
            </a:r>
            <a:r>
              <a:rPr sz="1584" b="0" baseline="-25000">
                <a:solidFill>
                  <a:srgbClr val="13293D"/>
                </a:solidFill>
                <a:latin typeface="Cambria Math"/>
              </a:rPr>
              <a:t>f</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직접 입력 제약</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a:t>
            </a:r>
            <a:r>
              <a:rPr sz="1584" b="0" baseline="-25000">
                <a:solidFill>
                  <a:srgbClr val="13293D"/>
                </a:solidFill>
                <a:latin typeface="Cambria Math"/>
              </a:rPr>
              <a:t>j</a:t>
            </a:r>
            <a:r>
              <a:rPr sz="2200" b="0">
                <a:solidFill>
                  <a:srgbClr val="13293D"/>
                </a:solidFill>
                <a:latin typeface="Cambria Math"/>
              </a:rPr>
              <a:t> ∈ U</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실제 적용</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보조 최적 입력의 첫 항</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3.6.3 명목 입력·상태 제약 집합의 선택</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§3.6.3 · 인쇄 pp.242–246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44</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명목 입력에 보조 제어용 여유를 남깁니다.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실제 튜브가 상태 한계 안에 들어가야 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서로 다른 제어기의 보장 조건을 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명목 한계</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|z|≤1.2,  |v|≤0.7</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별도 상쇄 피드백의 오차</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e⁺ = 0.4e + w</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상쇄 피드백의 보장 반경</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s = 0.02 / (1−0.4)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명목 입력·상태 제약 집합의 선택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f(x,u)=0.85x+0.05x³+0.5u · |w|≤0.02 · 명목 구간 8</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§3.6.3 · 인쇄 pp.242–246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45</a:t>
            </a:r>
          </a:p>
        </p:txBody>
      </p:sp>
      <p:pic>
        <p:nvPicPr>
          <p:cNvPr id="8" name="Picture 7" descr="nonlinear_tube.png"/>
          <p:cNvPicPr>
            <a:picLocks noChangeAspect="1"/>
          </p:cNvPicPr>
          <p:nvPr/>
        </p:nvPicPr>
        <p:blipFill>
          <a:blip r:embed="rId2"/>
          <a:stretch>
            <a:fillRect/>
          </a:stretch>
        </p:blipFill>
        <p:spPr>
          <a:xfrm>
            <a:off x="1353972" y="2148840"/>
            <a:ext cx="9483749"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보조 MPC는 선택한 외란에서 수치적으로 확인했습니다. 음영의 해석적 오차 경계는 별도의 비선형 상쇄 피드백에 대한</a:t>
            </a:r>
          </a:p>
          <a:p>
            <a:pPr>
              <a:lnSpc>
                <a:spcPct val="114000"/>
              </a:lnSpc>
              <a:spcBef>
                <a:spcPts val="0"/>
              </a:spcBef>
              <a:spcAft>
                <a:spcPts val="0"/>
              </a:spcAft>
            </a:pPr>
            <a:r>
              <a:rPr sz="1500" b="0">
                <a:solidFill>
                  <a:srgbClr val="13293D"/>
                </a:solidFill>
                <a:latin typeface="맑은 고딕"/>
              </a:rPr>
              <a:t>보장이며, 두 제어기의 보장을 혼동하지 않습니다.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3.7 확률적 MPC</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§3.7 · 인쇄 pp.246–257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46</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기대 비용과 확률 제약을 구분합니다.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외란 분포와 독립성 가정을 명시합니다.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무계 외란에서는 강제약 보장이 제한됩니다.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기대 비용</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min</a:t>
            </a:r>
            <a:r>
              <a:rPr sz="1584" b="0" baseline="-25000">
                <a:solidFill>
                  <a:srgbClr val="13293D"/>
                </a:solidFill>
                <a:latin typeface="Cambria Math"/>
              </a:rPr>
              <a:t>π</a:t>
            </a:r>
            <a:r>
              <a:rPr sz="2200" b="0">
                <a:solidFill>
                  <a:srgbClr val="13293D"/>
                </a:solidFill>
                <a:latin typeface="Cambria Math"/>
              </a:rPr>
              <a:t> E[J(x,π,w)]</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확률 제약</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P(x</a:t>
            </a:r>
            <a:r>
              <a:rPr sz="1584" b="0" baseline="-25000">
                <a:solidFill>
                  <a:srgbClr val="13293D"/>
                </a:solidFill>
                <a:latin typeface="Cambria Math"/>
              </a:rPr>
              <a:t>j</a:t>
            </a:r>
            <a:r>
              <a:rPr sz="2200" b="0">
                <a:solidFill>
                  <a:srgbClr val="13293D"/>
                </a:solidFill>
                <a:latin typeface="Cambria Math"/>
              </a:rPr>
              <a:t> ∈ X) ≥ 1−ε</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무계 외란의 주의점</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가우스 외란은 유한 범위에 갇히지 않음</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3.7.1 확률적 제약의 의미</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§3.7.1 · 인쇄 pp.246–248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47</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개별 시점 확률과 구간 전체 확률을</a:t>
            </a:r>
          </a:p>
          <a:p>
            <a:pPr>
              <a:lnSpc>
                <a:spcPct val="114000"/>
              </a:lnSpc>
              <a:spcBef>
                <a:spcPts val="0"/>
              </a:spcBef>
              <a:spcAft>
                <a:spcPts val="0"/>
              </a:spcAft>
            </a:pPr>
            <a:r>
              <a:rPr sz="1800" b="0">
                <a:solidFill>
                  <a:srgbClr val="13293D"/>
                </a:solidFill>
                <a:latin typeface="맑은 고딕"/>
              </a:rPr>
              <a:t>구분합니다.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분산을 전파하여 가우스 오차 여유를 구합니다.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전체 위험 예산을 시점별로 배분할 수</a:t>
            </a:r>
          </a:p>
          <a:p>
            <a:pPr>
              <a:lnSpc>
                <a:spcPct val="114000"/>
              </a:lnSpc>
              <a:spcBef>
                <a:spcPts val="0"/>
              </a:spcBef>
              <a:spcAft>
                <a:spcPts val="0"/>
              </a:spcAft>
            </a:pPr>
            <a:r>
              <a:rPr sz="1800" b="0">
                <a:solidFill>
                  <a:srgbClr val="13293D"/>
                </a:solidFill>
                <a:latin typeface="맑은 고딕"/>
              </a:rPr>
              <a:t>있습니다.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분산 재귀</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σ</a:t>
            </a:r>
            <a:r>
              <a:rPr sz="1584" b="0" baseline="-25000">
                <a:solidFill>
                  <a:srgbClr val="13293D"/>
                </a:solidFill>
                <a:latin typeface="Cambria Math"/>
              </a:rPr>
              <a:t>j+1</a:t>
            </a:r>
            <a:r>
              <a:rPr sz="2200" b="0">
                <a:solidFill>
                  <a:srgbClr val="13293D"/>
                </a:solidFill>
                <a:latin typeface="Cambria Math"/>
              </a:rPr>
              <a:t>² = ρ²σ</a:t>
            </a:r>
            <a:r>
              <a:rPr sz="1584" b="0" baseline="-25000">
                <a:solidFill>
                  <a:srgbClr val="13293D"/>
                </a:solidFill>
                <a:latin typeface="Cambria Math"/>
              </a:rPr>
              <a:t>j</a:t>
            </a:r>
            <a:r>
              <a:rPr sz="2200" b="0">
                <a:solidFill>
                  <a:srgbClr val="13293D"/>
                </a:solidFill>
                <a:latin typeface="Cambria Math"/>
              </a:rPr>
              <a:t>² + σ</a:t>
            </a:r>
            <a:r>
              <a:rPr sz="1584" b="0" baseline="-25000">
                <a:solidFill>
                  <a:srgbClr val="13293D"/>
                </a:solidFill>
                <a:latin typeface="Cambria Math"/>
              </a:rPr>
              <a:t>w</a:t>
            </a:r>
            <a:r>
              <a:rPr sz="2200" b="0">
                <a:solidFill>
                  <a:srgbClr val="13293D"/>
                </a:solidFill>
                <a:latin typeface="Cambria Math"/>
              </a:rPr>
              <a:t>²</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양측 시점별 여유</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m</a:t>
            </a:r>
            <a:r>
              <a:rPr sz="1584" b="0" baseline="-25000">
                <a:solidFill>
                  <a:srgbClr val="13293D"/>
                </a:solidFill>
                <a:latin typeface="Cambria Math"/>
              </a:rPr>
              <a:t>j</a:t>
            </a:r>
            <a:r>
              <a:rPr sz="2200" b="0">
                <a:solidFill>
                  <a:srgbClr val="13293D"/>
                </a:solidFill>
                <a:latin typeface="Cambria Math"/>
              </a:rPr>
              <a:t> = Φ⁻¹(1−ε/2) σ</a:t>
            </a:r>
            <a:r>
              <a:rPr sz="1584" b="0" baseline="-25000">
                <a:solidFill>
                  <a:srgbClr val="13293D"/>
                </a:solidFill>
                <a:latin typeface="Cambria Math"/>
              </a:rPr>
              <a:t>j</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합집합 상계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P(한 번 이상 위반) ≤ Σ</a:t>
            </a:r>
            <a:r>
              <a:rPr sz="1224" b="0" baseline="-25000">
                <a:solidFill>
                  <a:srgbClr val="13293D"/>
                </a:solidFill>
                <a:latin typeface="Cambria Math"/>
              </a:rPr>
              <a:t>j</a:t>
            </a:r>
            <a:r>
              <a:rPr sz="1700" b="0">
                <a:solidFill>
                  <a:srgbClr val="13293D"/>
                </a:solidFill>
                <a:latin typeface="Cambria Math"/>
              </a:rPr>
              <a:t> ε</a:t>
            </a:r>
            <a:r>
              <a:rPr sz="1224" b="0" baseline="-25000">
                <a:solidFill>
                  <a:srgbClr val="13293D"/>
                </a:solidFill>
                <a:latin typeface="Cambria Math"/>
              </a:rPr>
              <a:t>j</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확률적 제약의 의미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가우스 외란 표준편차 0.1 · ρ=0.5 · 20단계 · 30,000개 경로</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§3.7.1 · 인쇄 pp.246–248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48</a:t>
            </a:r>
          </a:p>
        </p:txBody>
      </p:sp>
      <p:pic>
        <p:nvPicPr>
          <p:cNvPr id="8" name="Picture 7" descr="gaussian_chance.png"/>
          <p:cNvPicPr>
            <a:picLocks noChangeAspect="1"/>
          </p:cNvPicPr>
          <p:nvPr/>
        </p:nvPicPr>
        <p:blipFill>
          <a:blip r:embed="rId2"/>
          <a:stretch>
            <a:fillRect/>
          </a:stretch>
        </p:blipFill>
        <p:spPr>
          <a:xfrm>
            <a:off x="1351152" y="2148840"/>
            <a:ext cx="9489391"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각 시점의 95% 범위와 구간 전체 95%를 위한 보수적인 범위를 비교합니다. 구간 전체 위반은 별도 사건으로 세며, 표본</a:t>
            </a:r>
          </a:p>
          <a:p>
            <a:pPr>
              <a:lnSpc>
                <a:spcPct val="114000"/>
              </a:lnSpc>
              <a:spcBef>
                <a:spcPts val="0"/>
              </a:spcBef>
              <a:spcAft>
                <a:spcPts val="0"/>
              </a:spcAft>
            </a:pPr>
            <a:r>
              <a:rPr sz="1500" b="0">
                <a:solidFill>
                  <a:srgbClr val="13293D"/>
                </a:solidFill>
                <a:latin typeface="맑은 고딕"/>
              </a:rPr>
              <a:t>빈도는 이론적 보장 자체가 아닙니다.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3.7.2 확률적 안정화 조건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§3.7.2 · 인쇄 pp.248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49</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지속 잡음에서는 분산이 0으로 가지 않을 수</a:t>
            </a:r>
          </a:p>
          <a:p>
            <a:pPr>
              <a:lnSpc>
                <a:spcPct val="114000"/>
              </a:lnSpc>
              <a:spcBef>
                <a:spcPts val="0"/>
              </a:spcBef>
              <a:spcAft>
                <a:spcPts val="0"/>
              </a:spcAft>
            </a:pPr>
            <a:r>
              <a:rPr sz="1800" b="0">
                <a:solidFill>
                  <a:srgbClr val="13293D"/>
                </a:solidFill>
                <a:latin typeface="맑은 고딕"/>
              </a:rPr>
              <a:t>있습니다.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기대 감소 조건과 정상 분산을 살펴봅니다.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유계 종단 집합과 무계 외란의 충돌을</a:t>
            </a:r>
          </a:p>
          <a:p>
            <a:pPr>
              <a:lnSpc>
                <a:spcPct val="114000"/>
              </a:lnSpc>
              <a:spcBef>
                <a:spcPts val="0"/>
              </a:spcBef>
              <a:spcAft>
                <a:spcPts val="0"/>
              </a:spcAft>
            </a:pPr>
            <a:r>
              <a:rPr sz="1800" b="0">
                <a:solidFill>
                  <a:srgbClr val="13293D"/>
                </a:solidFill>
                <a:latin typeface="맑은 고딕"/>
              </a:rPr>
              <a:t>확인합니다.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평균 제곱 재귀</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E[(e⁺)²] = ρ²E[e²] + σ</a:t>
            </a:r>
            <a:r>
              <a:rPr sz="1584" b="0" baseline="-25000">
                <a:solidFill>
                  <a:srgbClr val="13293D"/>
                </a:solidFill>
                <a:latin typeface="Cambria Math"/>
              </a:rPr>
              <a:t>w</a:t>
            </a:r>
            <a:r>
              <a:rPr sz="2200" b="0">
                <a:solidFill>
                  <a:srgbClr val="13293D"/>
                </a:solidFill>
                <a:latin typeface="Cambria Math"/>
              </a:rPr>
              <a:t>²</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정상 분산</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σ</a:t>
            </a:r>
            <a:r>
              <a:rPr sz="1584" b="0" baseline="-25000">
                <a:solidFill>
                  <a:srgbClr val="13293D"/>
                </a:solidFill>
                <a:latin typeface="Cambria Math"/>
              </a:rPr>
              <a:t>∞</a:t>
            </a:r>
            <a:r>
              <a:rPr sz="2200" b="0">
                <a:solidFill>
                  <a:srgbClr val="13293D"/>
                </a:solidFill>
                <a:latin typeface="Cambria Math"/>
              </a:rPr>
              <a:t>² = σ</a:t>
            </a:r>
            <a:r>
              <a:rPr sz="1584" b="0" baseline="-25000">
                <a:solidFill>
                  <a:srgbClr val="13293D"/>
                </a:solidFill>
                <a:latin typeface="Cambria Math"/>
              </a:rPr>
              <a:t>w</a:t>
            </a:r>
            <a:r>
              <a:rPr sz="2200" b="0">
                <a:solidFill>
                  <a:srgbClr val="13293D"/>
                </a:solidFill>
                <a:latin typeface="Cambria Math"/>
              </a:rPr>
              <a:t>² / (1−ρ²)</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구분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평균이 0 ≠ 모든 경로가 원점으로 수렴</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확률적 안정화 조건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ρ=0.5 · 가우스 잡음 표준편차 0.1 · 30,000개 경로</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§3.7.2 · 인쇄 pp.248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50</a:t>
            </a:r>
          </a:p>
        </p:txBody>
      </p:sp>
      <p:pic>
        <p:nvPicPr>
          <p:cNvPr id="8" name="Picture 7" descr="mean_square.png"/>
          <p:cNvPicPr>
            <a:picLocks noChangeAspect="1"/>
          </p:cNvPicPr>
          <p:nvPr/>
        </p:nvPicPr>
        <p:blipFill>
          <a:blip r:embed="rId2"/>
          <a:stretch>
            <a:fillRect/>
          </a:stretch>
        </p:blipFill>
        <p:spPr>
          <a:xfrm>
            <a:off x="1827878" y="2148840"/>
            <a:ext cx="8535938"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안정한 오차계의 분산은 양의 정상값에 접근합니다. 해석적 재귀와 독립 경로의 표본 분산을 비교하며, 원점으로의 경로별</a:t>
            </a:r>
          </a:p>
          <a:p>
            <a:pPr>
              <a:lnSpc>
                <a:spcPct val="114000"/>
              </a:lnSpc>
              <a:spcBef>
                <a:spcPts val="0"/>
              </a:spcBef>
              <a:spcAft>
                <a:spcPts val="0"/>
              </a:spcAft>
            </a:pPr>
            <a:r>
              <a:rPr sz="1500" b="0">
                <a:solidFill>
                  <a:srgbClr val="13293D"/>
                </a:solidFill>
                <a:latin typeface="맑은 고딕"/>
              </a:rPr>
              <a:t>수렴으로 해석하지 않습니다.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3.7.3 확률적 최적화</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§3.7.3 · 인쇄 pp.248–249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51</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학습 표본 경로 전체를 포함하는 여유를</a:t>
            </a:r>
          </a:p>
          <a:p>
            <a:pPr>
              <a:lnSpc>
                <a:spcPct val="114000"/>
              </a:lnSpc>
              <a:spcBef>
                <a:spcPts val="0"/>
              </a:spcBef>
              <a:spcAft>
                <a:spcPts val="0"/>
              </a:spcAft>
            </a:pPr>
            <a:r>
              <a:rPr sz="1800" b="0">
                <a:solidFill>
                  <a:srgbClr val="13293D"/>
                </a:solidFill>
                <a:latin typeface="맑은 고딕"/>
              </a:rPr>
              <a:t>구합니다.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위반 확률 ε와 설계 실패 확률 β를 구분합니다.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설계에 쓰지 않은 독립 경로로 검증합니다.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교재의 충분 표본 수 형태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M ≥ (2/ε)[ln(1/β)+d]</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이 실습의 결정 변수</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m = max</a:t>
            </a:r>
            <a:r>
              <a:rPr sz="1584" b="0" baseline="-25000">
                <a:solidFill>
                  <a:srgbClr val="13293D"/>
                </a:solidFill>
                <a:latin typeface="Cambria Math"/>
              </a:rPr>
              <a:t>r,j</a:t>
            </a:r>
            <a:r>
              <a:rPr sz="2200" b="0">
                <a:solidFill>
                  <a:srgbClr val="13293D"/>
                </a:solidFill>
                <a:latin typeface="Cambria Math"/>
              </a:rPr>
              <a:t> |e</a:t>
            </a:r>
            <a:r>
              <a:rPr sz="1584" b="0" baseline="-25000">
                <a:solidFill>
                  <a:srgbClr val="13293D"/>
                </a:solidFill>
                <a:latin typeface="Cambria Math"/>
              </a:rPr>
              <a:t>j</a:t>
            </a:r>
            <a:r>
              <a:rPr sz="1584" b="0" baseline="30000">
                <a:solidFill>
                  <a:srgbClr val="13293D"/>
                </a:solidFill>
                <a:latin typeface="Cambria Math"/>
              </a:rPr>
              <a:t>(r)</a:t>
            </a:r>
            <a:r>
              <a:rPr sz="2200" b="0">
                <a:solidFill>
                  <a:srgbClr val="13293D"/>
                </a:solidFill>
                <a:latin typeface="Cambria Math"/>
              </a:rPr>
              <a:t>|</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스칼라 최대값의 정확한 경계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설계 실패 확률 ≤ (1−ε)</a:t>
            </a:r>
            <a:r>
              <a:rPr sz="1224" b="0" baseline="30000">
                <a:solidFill>
                  <a:srgbClr val="13293D"/>
                </a:solidFill>
                <a:latin typeface="Cambria Math"/>
              </a:rPr>
              <a:t>M</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세 가지 확률을 구분해 보고합니다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설계 데이터와 검증 데이터는 독립적으로 생성합니다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§3.7.3 · 인쇄 pp.248–249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52</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외란 위험 목표</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P(새 경로가 설계 여유 초과) ≤ ε</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고정된 설계의 실제 위반 확률을 ε 이하로 제한</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설계 실패</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β ≥ P(설계의 실제 위반 확률 &gt; ε)</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설계 표본 자체를 다시 뽑는 실험의 확률</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검증 불확실성</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독립 위반 횟수 + 단측 신뢰상한</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관측 빈도만으로 확률 0이나 강인성을 주장하지 않음</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확률적 최적화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균등 외란 ±0.1 · 12단계 · ε=0.05 · β=0.01 · 결정 변수 1개</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§3.7.3 · 인쇄 pp.248–249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53</a:t>
            </a:r>
          </a:p>
        </p:txBody>
      </p:sp>
      <p:pic>
        <p:nvPicPr>
          <p:cNvPr id="8" name="Picture 7" descr="scenario_margin.png"/>
          <p:cNvPicPr>
            <a:picLocks noChangeAspect="1"/>
          </p:cNvPicPr>
          <p:nvPr/>
        </p:nvPicPr>
        <p:blipFill>
          <a:blip r:embed="rId2"/>
          <a:stretch>
            <a:fillRect/>
          </a:stretch>
        </p:blipFill>
        <p:spPr>
          <a:xfrm>
            <a:off x="1830699" y="2148840"/>
            <a:ext cx="8530296"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구간 최대 오차를 하나의 표본값으로 다룹니다. 독립 검증의 위반 빈도와 상측 신뢰한계를 함께 기록하며, 유계 외란의 강인</a:t>
            </a:r>
          </a:p>
          <a:p>
            <a:pPr>
              <a:lnSpc>
                <a:spcPct val="114000"/>
              </a:lnSpc>
              <a:spcBef>
                <a:spcPts val="0"/>
              </a:spcBef>
              <a:spcAft>
                <a:spcPts val="0"/>
              </a:spcAft>
            </a:pPr>
            <a:r>
              <a:rPr sz="1500" b="0">
                <a:solidFill>
                  <a:srgbClr val="13293D"/>
                </a:solidFill>
                <a:latin typeface="맑은 고딕"/>
              </a:rPr>
              <a:t>반경과 비교합니다.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최대값 설계와 무위반 검증의 정확식을 사용합니다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일반 시나리오 문제와 단일 최대값 문제를 구분</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§3.7.3 · 인쇄 pp.248–249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54</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특별한 설계 문제</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P(설계 실패) = (1−ε)</a:t>
            </a:r>
            <a:r>
              <a:rPr sz="1655" b="0" baseline="30000">
                <a:solidFill>
                  <a:srgbClr val="13293D"/>
                </a:solidFill>
                <a:latin typeface="Cambria Math"/>
              </a:rPr>
              <a:t>M</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연속 분포에서 독립 경로 최대값 M개의 최대값을 선택</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최소 설계 표본</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M ≥ log(β) / log(1−ε)</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스칼라 최대값 문제에만 적용 · 정수 올림</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무위반 검증 상한</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p</a:t>
            </a:r>
            <a:r>
              <a:rPr sz="1655" b="0" baseline="-25000">
                <a:solidFill>
                  <a:srgbClr val="13293D"/>
                </a:solidFill>
                <a:latin typeface="Cambria Math"/>
              </a:rPr>
              <a:t>upper</a:t>
            </a:r>
            <a:r>
              <a:rPr sz="2300" b="0">
                <a:solidFill>
                  <a:srgbClr val="13293D"/>
                </a:solidFill>
                <a:latin typeface="Cambria Math"/>
              </a:rPr>
              <a:t> = 1−0.05</a:t>
            </a:r>
            <a:r>
              <a:rPr sz="1655" b="0" baseline="30000">
                <a:solidFill>
                  <a:srgbClr val="13293D"/>
                </a:solidFill>
                <a:latin typeface="Cambria Math"/>
              </a:rPr>
              <a:t>1/n</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독립 n회 모두 무위반일 때 95% 단측 신뢰상한</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무위반 100회는 위반 확률 0을 뜻하지 않습니다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설계 ε=0.05 · 검증 95% 단측 신뢰상한</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§3.7.3 · 인쇄 pp.248–249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55</a:t>
            </a:r>
          </a:p>
        </p:txBody>
      </p:sp>
      <p:pic>
        <p:nvPicPr>
          <p:cNvPr id="8" name="Picture 7" descr="sampling_confidence.png"/>
          <p:cNvPicPr>
            <a:picLocks noChangeAspect="1"/>
          </p:cNvPicPr>
          <p:nvPr/>
        </p:nvPicPr>
        <p:blipFill>
          <a:blip r:embed="rId2"/>
          <a:stretch>
            <a:fillRect/>
          </a:stretch>
        </p:blipFill>
        <p:spPr>
          <a:xfrm>
            <a:off x="1352012" y="2148840"/>
            <a:ext cx="9487670"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ε=0.05, β=0.01이면 최대값 설계 최소 표본은 90개입니다. 독립 100회 무위반이어도 상측 신뢰한계는 약 2.95%입니다.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3.7.4 선형 제약 시스템의 확률적 튜브 MPC</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§3.7.4 · 인쇄 pp.249–257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56</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입력에는 강인 여유를 유지합니다.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상태에는 확률적 여유를 사용할 수 있습니다.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종단 이후에는 강인하게 안전한 동작으로</a:t>
            </a:r>
          </a:p>
          <a:p>
            <a:pPr>
              <a:lnSpc>
                <a:spcPct val="114000"/>
              </a:lnSpc>
              <a:spcBef>
                <a:spcPts val="0"/>
              </a:spcBef>
              <a:spcAft>
                <a:spcPts val="0"/>
              </a:spcAft>
            </a:pPr>
            <a:r>
              <a:rPr sz="1800" b="0">
                <a:solidFill>
                  <a:srgbClr val="13293D"/>
                </a:solidFill>
                <a:latin typeface="맑은 고딕"/>
              </a:rPr>
              <a:t>이어집니다.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입력 축소</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 ≤ u</a:t>
            </a:r>
            <a:r>
              <a:rPr sz="1584" b="0" baseline="-25000">
                <a:solidFill>
                  <a:srgbClr val="13293D"/>
                </a:solidFill>
                <a:latin typeface="Cambria Math"/>
              </a:rPr>
              <a:t>max</a:t>
            </a:r>
            <a:r>
              <a:rPr sz="2200" b="0">
                <a:solidFill>
                  <a:srgbClr val="13293D"/>
                </a:solidFill>
                <a:latin typeface="Cambria Math"/>
              </a:rPr>
              <a:t> − |K|s</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확률적 상태 축소</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|z</a:t>
            </a:r>
            <a:r>
              <a:rPr sz="1584" b="0" baseline="-25000">
                <a:solidFill>
                  <a:srgbClr val="13293D"/>
                </a:solidFill>
                <a:latin typeface="Cambria Math"/>
              </a:rPr>
              <a:t>j</a:t>
            </a:r>
            <a:r>
              <a:rPr sz="2200" b="0">
                <a:solidFill>
                  <a:srgbClr val="13293D"/>
                </a:solidFill>
                <a:latin typeface="Cambria Math"/>
              </a:rPr>
              <a:t>| ≤ x</a:t>
            </a:r>
            <a:r>
              <a:rPr sz="1584" b="0" baseline="-25000">
                <a:solidFill>
                  <a:srgbClr val="13293D"/>
                </a:solidFill>
                <a:latin typeface="Cambria Math"/>
              </a:rPr>
              <a:t>max</a:t>
            </a:r>
            <a:r>
              <a:rPr sz="2200" b="0">
                <a:solidFill>
                  <a:srgbClr val="13293D"/>
                </a:solidFill>
                <a:latin typeface="Cambria Math"/>
              </a:rPr>
              <a:t> − m</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실습의 강인 종단</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z</a:t>
            </a:r>
            <a:r>
              <a:rPr sz="1584" b="0" baseline="-25000">
                <a:solidFill>
                  <a:srgbClr val="13293D"/>
                </a:solidFill>
                <a:latin typeface="Cambria Math"/>
              </a:rPr>
              <a:t>N</a:t>
            </a:r>
            <a:r>
              <a:rPr sz="2200" b="0">
                <a:solidFill>
                  <a:srgbClr val="13293D"/>
                </a:solidFill>
                <a:latin typeface="Cambria Math"/>
              </a:rPr>
              <a:t> = 0,  S ⊆ X</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선형 제약 시스템의 확률적 튜브 MPC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균등 외란 ±0.1 · 초기상태 2.81 · N=12 · 명목 종단 상태 0</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§3.7.4 · 인쇄 pp.249–257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57</a:t>
            </a:r>
          </a:p>
        </p:txBody>
      </p:sp>
      <p:pic>
        <p:nvPicPr>
          <p:cNvPr id="8" name="Picture 7" descr="stochastic_tube.png"/>
          <p:cNvPicPr>
            <a:picLocks noChangeAspect="1"/>
          </p:cNvPicPr>
          <p:nvPr/>
        </p:nvPicPr>
        <p:blipFill>
          <a:blip r:embed="rId2"/>
          <a:stretch>
            <a:fillRect/>
          </a:stretch>
        </p:blipFill>
        <p:spPr>
          <a:xfrm>
            <a:off x="1353972" y="2148840"/>
            <a:ext cx="9483749"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계획 구간의 상태 여유는 확률적으로 설계하고 입력과 종단 이후는 유계 외란 전체에 대해 다룹니다. 이번 경로들의 실제</a:t>
            </a:r>
          </a:p>
          <a:p>
            <a:pPr>
              <a:lnSpc>
                <a:spcPct val="114000"/>
              </a:lnSpc>
              <a:spcBef>
                <a:spcPts val="0"/>
              </a:spcBef>
              <a:spcAft>
                <a:spcPts val="0"/>
              </a:spcAft>
            </a:pPr>
            <a:r>
              <a:rPr sz="1500" b="0">
                <a:solidFill>
                  <a:srgbClr val="13293D"/>
                </a:solidFill>
                <a:latin typeface="맑은 고딕"/>
              </a:rPr>
              <a:t>위반이 0이어도 확률 0을 증명한 것은 아닙니다.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외란 분포가 달라지면 확률 보장을 다시 확인합니다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같은 표본 설계 여유 · 분포별 독립 20,000 경로 · 길이 12</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§3.7.4 · 인쇄 pp.249–257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58</a:t>
            </a:r>
          </a:p>
        </p:txBody>
      </p:sp>
      <p:pic>
        <p:nvPicPr>
          <p:cNvPr id="8" name="Picture 7" descr="distribution_shift.png"/>
          <p:cNvPicPr>
            <a:picLocks noChangeAspect="1"/>
          </p:cNvPicPr>
          <p:nvPr/>
        </p:nvPicPr>
        <p:blipFill>
          <a:blip r:embed="rId2"/>
          <a:stretch>
            <a:fillRect/>
          </a:stretch>
        </p:blipFill>
        <p:spPr>
          <a:xfrm>
            <a:off x="1356793" y="2148840"/>
            <a:ext cx="9478107"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같은 ±0.1 범위라도 양 끝점에 집중된 외란은 확률적 여유를 더 자주 넘습니다. 강인 반경과 확률적 여유의 초과 사건을</a:t>
            </a:r>
          </a:p>
          <a:p>
            <a:pPr>
              <a:lnSpc>
                <a:spcPct val="114000"/>
              </a:lnSpc>
              <a:spcBef>
                <a:spcPts val="0"/>
              </a:spcBef>
              <a:spcAft>
                <a:spcPts val="0"/>
              </a:spcAft>
            </a:pPr>
            <a:r>
              <a:rPr sz="1500" b="0">
                <a:solidFill>
                  <a:srgbClr val="13293D"/>
                </a:solidFill>
                <a:latin typeface="맑은 고딕"/>
              </a:rPr>
              <a:t>구분하세요.</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3.8 문헌 해설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§3.8 · 인쇄 pp.257–262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59</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어떤 외란과 어떤 정책을 허용하는지</a:t>
            </a:r>
          </a:p>
          <a:p>
            <a:pPr>
              <a:lnSpc>
                <a:spcPct val="114000"/>
              </a:lnSpc>
              <a:spcBef>
                <a:spcPts val="0"/>
              </a:spcBef>
              <a:spcAft>
                <a:spcPts val="0"/>
              </a:spcAft>
            </a:pPr>
            <a:r>
              <a:rPr sz="1800" b="0">
                <a:solidFill>
                  <a:srgbClr val="13293D"/>
                </a:solidFill>
                <a:latin typeface="맑은 고딕"/>
              </a:rPr>
              <a:t>확인합니다.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보장의 사건·영역·확률을 정확히 읽습니다.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오프라인 준비와 온라인 계산 비용을</a:t>
            </a:r>
          </a:p>
          <a:p>
            <a:pPr>
              <a:lnSpc>
                <a:spcPct val="114000"/>
              </a:lnSpc>
              <a:spcBef>
                <a:spcPts val="0"/>
              </a:spcBef>
              <a:spcAft>
                <a:spcPts val="0"/>
              </a:spcAft>
            </a:pPr>
            <a:r>
              <a:rPr sz="1800" b="0">
                <a:solidFill>
                  <a:srgbClr val="13293D"/>
                </a:solidFill>
                <a:latin typeface="맑은 고딕"/>
              </a:rPr>
              <a:t>구분합니다.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외란 모델</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유계 집합 / 확률 분포</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제약의 의미</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모든 외란 / 확률적 사건</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계산 위치</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오프라인 집합·표본 / 온라인 제어</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3.9 연습문제</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§3.9 · 인쇄 pp.262–268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60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3.2: 최대값 차이 부등식의 증명</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3.3: 중심 제약을 선형 부등식으로 표현</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3.6: 강인 MPC의 축소 제약과 시뮬레이션</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과제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외란 크기와 이득을 바꿔 튜브 계산</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확률 비교</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개별 시점 / 전체 구간 / 설계 실패</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검증 구분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해석적 경계 / 독립 표본 결과</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실행과 참고</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노트북에서 가정을 바꾸고 다시 확인하세요</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Rawlings · Mayne · Diehl, 2nd edition, 1st printing (2017)</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제3장 · 인쇄 pp.193–268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61</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공통 환경 준비 코드 두 셀을 실행한 뒤 개별</a:t>
            </a:r>
          </a:p>
          <a:p>
            <a:pPr>
              <a:lnSpc>
                <a:spcPct val="114000"/>
              </a:lnSpc>
              <a:spcBef>
                <a:spcPts val="0"/>
              </a:spcBef>
              <a:spcAft>
                <a:spcPts val="0"/>
              </a:spcAft>
            </a:pPr>
            <a:r>
              <a:rPr sz="1800" b="0">
                <a:solidFill>
                  <a:srgbClr val="13293D"/>
                </a:solidFill>
                <a:latin typeface="맑은 고딕"/>
              </a:rPr>
              <a:t>실습을 실행합니다.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원본 재현과 직접 만든 보충 실습의 범위를</a:t>
            </a:r>
          </a:p>
          <a:p>
            <a:pPr>
              <a:lnSpc>
                <a:spcPct val="114000"/>
              </a:lnSpc>
              <a:spcBef>
                <a:spcPts val="0"/>
              </a:spcBef>
              <a:spcAft>
                <a:spcPts val="0"/>
              </a:spcAft>
            </a:pPr>
            <a:r>
              <a:rPr sz="1800" b="0">
                <a:solidFill>
                  <a:srgbClr val="13293D"/>
                </a:solidFill>
                <a:latin typeface="맑은 고딕"/>
              </a:rPr>
              <a:t>표시했습니다.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전체 증명과 연습문제의 해답집은 아닙니다.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시작 위치</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GitHub README의 제3장 Colab</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편집과 재생성</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노트북 → 그림 → PPT → PDF</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다음 장</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상태 추정과 이동 구간 추정</a:t>
            </a:r>
          </a:p>
        </p:txBody>
      </p:sp>
      <p:sp>
        <p:nvSpPr>
          <p:cNvPr id="22" name="TextBox 21">
            <a:hlinkClick r:id="rId2"/>
          </p:cNvPr>
          <p:cNvSpPr txBox="1"/>
          <p:nvPr/>
        </p:nvSpPr>
        <p:spPr>
          <a:xfrm>
            <a:off x="777240" y="5943600"/>
            <a:ext cx="10515600" cy="347472"/>
          </a:xfrm>
          <a:prstGeom prst="rect">
            <a:avLst/>
          </a:prstGeom>
          <a:noFill/>
        </p:spPr>
        <p:txBody>
          <a:bodyPr wrap="square" lIns="0" rIns="0" tIns="0" bIns="0">
            <a:spAutoFit/>
          </a:bodyPr>
          <a:lstStyle/>
          <a:p>
            <a:pPr>
              <a:lnSpc>
                <a:spcPct val="114000"/>
              </a:lnSpc>
              <a:spcBef>
                <a:spcPts val="0"/>
              </a:spcBef>
              <a:spcAft>
                <a:spcPts val="0"/>
              </a:spcAft>
            </a:pPr>
            <a:r>
              <a:rPr sz="1700" b="1">
                <a:solidFill>
                  <a:srgbClr val="087E82"/>
                </a:solidFill>
                <a:latin typeface="맑은 고딕"/>
                <a:hlinkClick r:id="rId2"/>
              </a:rPr>
              <a:t>Colab에서 제3장 노트북 열기</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